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61" r:id="rId1"/>
  </p:sldMasterIdLst>
  <p:notesMasterIdLst>
    <p:notesMasterId r:id="rId52"/>
  </p:notesMasterIdLst>
  <p:sldIdLst>
    <p:sldId id="256" r:id="rId2"/>
    <p:sldId id="258" r:id="rId3"/>
    <p:sldId id="302" r:id="rId4"/>
    <p:sldId id="279" r:id="rId5"/>
    <p:sldId id="303" r:id="rId6"/>
    <p:sldId id="304" r:id="rId7"/>
    <p:sldId id="305" r:id="rId8"/>
    <p:sldId id="306" r:id="rId9"/>
    <p:sldId id="307" r:id="rId10"/>
    <p:sldId id="309" r:id="rId11"/>
    <p:sldId id="269" r:id="rId12"/>
    <p:sldId id="261" r:id="rId13"/>
    <p:sldId id="273" r:id="rId14"/>
    <p:sldId id="259" r:id="rId15"/>
    <p:sldId id="260" r:id="rId16"/>
    <p:sldId id="308" r:id="rId17"/>
    <p:sldId id="272" r:id="rId18"/>
    <p:sldId id="271" r:id="rId19"/>
    <p:sldId id="262" r:id="rId20"/>
    <p:sldId id="274" r:id="rId21"/>
    <p:sldId id="263" r:id="rId22"/>
    <p:sldId id="275" r:id="rId23"/>
    <p:sldId id="264" r:id="rId24"/>
    <p:sldId id="265" r:id="rId25"/>
    <p:sldId id="276" r:id="rId26"/>
    <p:sldId id="277" r:id="rId27"/>
    <p:sldId id="286" r:id="rId28"/>
    <p:sldId id="278" r:id="rId29"/>
    <p:sldId id="287" r:id="rId30"/>
    <p:sldId id="296" r:id="rId31"/>
    <p:sldId id="297" r:id="rId32"/>
    <p:sldId id="298" r:id="rId33"/>
    <p:sldId id="310" r:id="rId34"/>
    <p:sldId id="280" r:id="rId35"/>
    <p:sldId id="288" r:id="rId36"/>
    <p:sldId id="281" r:id="rId37"/>
    <p:sldId id="289" r:id="rId38"/>
    <p:sldId id="282" r:id="rId39"/>
    <p:sldId id="283" r:id="rId40"/>
    <p:sldId id="284" r:id="rId41"/>
    <p:sldId id="285" r:id="rId42"/>
    <p:sldId id="290" r:id="rId43"/>
    <p:sldId id="291" r:id="rId44"/>
    <p:sldId id="295" r:id="rId45"/>
    <p:sldId id="292" r:id="rId46"/>
    <p:sldId id="293" r:id="rId47"/>
    <p:sldId id="294" r:id="rId48"/>
    <p:sldId id="300" r:id="rId49"/>
    <p:sldId id="299" r:id="rId50"/>
    <p:sldId id="270"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5" autoAdjust="0"/>
    <p:restoredTop sz="94660"/>
  </p:normalViewPr>
  <p:slideViewPr>
    <p:cSldViewPr snapToGrid="0">
      <p:cViewPr varScale="1">
        <p:scale>
          <a:sx n="72" d="100"/>
          <a:sy n="72" d="100"/>
        </p:scale>
        <p:origin x="53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807BCF-8BA7-4104-A4E4-F29FC96AA761}" type="datetimeFigureOut">
              <a:rPr lang="en-US" smtClean="0"/>
              <a:t>1/12/2026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D633CC-C928-43D5-9FAF-4026A03FAC6D}" type="slidenum">
              <a:rPr lang="en-US" smtClean="0"/>
              <a:t>‹#›</a:t>
            </a:fld>
            <a:endParaRPr lang="en-US"/>
          </a:p>
        </p:txBody>
      </p:sp>
    </p:spTree>
    <p:extLst>
      <p:ext uri="{BB962C8B-B14F-4D97-AF65-F5344CB8AC3E}">
        <p14:creationId xmlns:p14="http://schemas.microsoft.com/office/powerpoint/2010/main" val="435480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FA5F3C5-0A99-481D-9990-FB41CB7DF9A9}" type="datetime1">
              <a:rPr lang="en-US" smtClean="0"/>
              <a:t>1/12/2026</a:t>
            </a:fld>
            <a:endParaRPr lang="en-US" dirty="0"/>
          </a:p>
        </p:txBody>
      </p:sp>
      <p:sp>
        <p:nvSpPr>
          <p:cNvPr id="5" name="Footer Placeholder 4"/>
          <p:cNvSpPr>
            <a:spLocks noGrp="1"/>
          </p:cNvSpPr>
          <p:nvPr>
            <p:ph type="ftr" sz="quarter" idx="11"/>
          </p:nvPr>
        </p:nvSpPr>
        <p:spPr/>
        <p:txBody>
          <a:bodyPr/>
          <a:lstStyle/>
          <a:p>
            <a:r>
              <a:rPr lang="en-US"/>
              <a:t>Transaction Service POC</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7617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E1E5AD-875C-49F4-82A2-BFBFAFE64D50}" type="datetime1">
              <a:rPr lang="en-US" smtClean="0"/>
              <a:t>1/12/2026</a:t>
            </a:fld>
            <a:endParaRPr lang="en-US" dirty="0"/>
          </a:p>
        </p:txBody>
      </p:sp>
      <p:sp>
        <p:nvSpPr>
          <p:cNvPr id="5" name="Footer Placeholder 4"/>
          <p:cNvSpPr>
            <a:spLocks noGrp="1"/>
          </p:cNvSpPr>
          <p:nvPr>
            <p:ph type="ftr" sz="quarter" idx="11"/>
          </p:nvPr>
        </p:nvSpPr>
        <p:spPr/>
        <p:txBody>
          <a:bodyPr/>
          <a:lstStyle/>
          <a:p>
            <a:r>
              <a:rPr lang="en-US"/>
              <a:t>Transaction Service POC</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t>‹#›</a:t>
            </a:fld>
            <a:endParaRPr lang="en-US" dirty="0"/>
          </a:p>
        </p:txBody>
      </p:sp>
    </p:spTree>
    <p:extLst>
      <p:ext uri="{BB962C8B-B14F-4D97-AF65-F5344CB8AC3E}">
        <p14:creationId xmlns:p14="http://schemas.microsoft.com/office/powerpoint/2010/main" val="3842279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F9DA05-00B6-492E-84A7-9632D3F75622}" type="datetime1">
              <a:rPr lang="en-US" smtClean="0"/>
              <a:t>1/12/2026</a:t>
            </a:fld>
            <a:endParaRPr lang="en-US" dirty="0"/>
          </a:p>
        </p:txBody>
      </p:sp>
      <p:sp>
        <p:nvSpPr>
          <p:cNvPr id="5" name="Footer Placeholder 4"/>
          <p:cNvSpPr>
            <a:spLocks noGrp="1"/>
          </p:cNvSpPr>
          <p:nvPr>
            <p:ph type="ftr" sz="quarter" idx="11"/>
          </p:nvPr>
        </p:nvSpPr>
        <p:spPr/>
        <p:txBody>
          <a:bodyPr/>
          <a:lstStyle/>
          <a:p>
            <a:r>
              <a:rPr lang="en-US"/>
              <a:t>Transaction Service POC</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9315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22A633E-9CE7-45C5-B6BD-2339F6180429}" type="datetime1">
              <a:rPr lang="en-US" smtClean="0"/>
              <a:t>1/12/2026</a:t>
            </a:fld>
            <a:endParaRPr lang="en-US" dirty="0"/>
          </a:p>
        </p:txBody>
      </p:sp>
      <p:sp>
        <p:nvSpPr>
          <p:cNvPr id="6" name="Footer Placeholder 5"/>
          <p:cNvSpPr>
            <a:spLocks noGrp="1"/>
          </p:cNvSpPr>
          <p:nvPr>
            <p:ph type="ftr" sz="quarter" idx="11"/>
          </p:nvPr>
        </p:nvSpPr>
        <p:spPr/>
        <p:txBody>
          <a:bodyPr/>
          <a:lstStyle/>
          <a:p>
            <a:r>
              <a:rPr lang="en-US"/>
              <a:t>Transaction Service POC</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73991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4638F65-2F0B-4B9C-87C7-8D5CEC21283D}" type="datetime1">
              <a:rPr lang="en-US" smtClean="0"/>
              <a:t>1/12/2026</a:t>
            </a:fld>
            <a:endParaRPr lang="en-US" dirty="0"/>
          </a:p>
        </p:txBody>
      </p:sp>
      <p:sp>
        <p:nvSpPr>
          <p:cNvPr id="8" name="Footer Placeholder 7"/>
          <p:cNvSpPr>
            <a:spLocks noGrp="1"/>
          </p:cNvSpPr>
          <p:nvPr>
            <p:ph type="ftr" sz="quarter" idx="11"/>
          </p:nvPr>
        </p:nvSpPr>
        <p:spPr/>
        <p:txBody>
          <a:bodyPr/>
          <a:lstStyle/>
          <a:p>
            <a:r>
              <a:rPr lang="en-US"/>
              <a:t>Transaction Service POC</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43427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F900C2-F8E1-4BD6-984A-009B551889DC}" type="datetime1">
              <a:rPr lang="en-US" smtClean="0"/>
              <a:t>1/12/2026</a:t>
            </a:fld>
            <a:endParaRPr lang="en-US" dirty="0"/>
          </a:p>
        </p:txBody>
      </p:sp>
      <p:sp>
        <p:nvSpPr>
          <p:cNvPr id="4" name="Footer Placeholder 3"/>
          <p:cNvSpPr>
            <a:spLocks noGrp="1"/>
          </p:cNvSpPr>
          <p:nvPr>
            <p:ph type="ftr" sz="quarter" idx="11"/>
          </p:nvPr>
        </p:nvSpPr>
        <p:spPr/>
        <p:txBody>
          <a:bodyPr/>
          <a:lstStyle/>
          <a:p>
            <a:r>
              <a:rPr lang="en-US"/>
              <a:t>Transaction Service POC</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600711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74EE19F-13D6-4E58-A7A0-5B55F808B243}" type="datetime1">
              <a:rPr lang="en-US" smtClean="0"/>
              <a:t>1/12/2026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Transaction Service POC</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68959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88B5BFF-C808-490A-895E-9AF66A74C4A2}" type="datetime1">
              <a:rPr lang="en-US" smtClean="0"/>
              <a:t>1/12/2026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Transaction Service POC</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1043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812949-2934-4B56-AEE0-65B0126EF39D}" type="datetime1">
              <a:rPr lang="en-US" smtClean="0"/>
              <a:t>1/12/2026</a:t>
            </a:fld>
            <a:endParaRPr lang="en-US" dirty="0"/>
          </a:p>
        </p:txBody>
      </p:sp>
      <p:sp>
        <p:nvSpPr>
          <p:cNvPr id="6" name="Footer Placeholder 5"/>
          <p:cNvSpPr>
            <a:spLocks noGrp="1"/>
          </p:cNvSpPr>
          <p:nvPr>
            <p:ph type="ftr" sz="quarter" idx="11"/>
          </p:nvPr>
        </p:nvSpPr>
        <p:spPr/>
        <p:txBody>
          <a:bodyPr/>
          <a:lstStyle/>
          <a:p>
            <a:r>
              <a:rPr lang="en-US"/>
              <a:t>Transaction Service POC</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542891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2633C8-0BBD-4EA4-90C4-C5221BF09124}" type="datetime1">
              <a:rPr lang="en-US" smtClean="0"/>
              <a:t>1/12/2026</a:t>
            </a:fld>
            <a:endParaRPr lang="en-US" dirty="0"/>
          </a:p>
        </p:txBody>
      </p:sp>
      <p:sp>
        <p:nvSpPr>
          <p:cNvPr id="5" name="Footer Placeholder 4"/>
          <p:cNvSpPr>
            <a:spLocks noGrp="1"/>
          </p:cNvSpPr>
          <p:nvPr>
            <p:ph type="ftr" sz="quarter" idx="11"/>
          </p:nvPr>
        </p:nvSpPr>
        <p:spPr/>
        <p:txBody>
          <a:bodyPr/>
          <a:lstStyle/>
          <a:p>
            <a:r>
              <a:rPr lang="en-US"/>
              <a:t>Transaction Service POC</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497435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347A35-5AE6-4265-A0F8-F0FF77B8769D}" type="datetime1">
              <a:rPr lang="en-US" smtClean="0"/>
              <a:t>1/12/2026</a:t>
            </a:fld>
            <a:endParaRPr lang="en-US" dirty="0"/>
          </a:p>
        </p:txBody>
      </p:sp>
      <p:sp>
        <p:nvSpPr>
          <p:cNvPr id="5" name="Footer Placeholder 4"/>
          <p:cNvSpPr>
            <a:spLocks noGrp="1"/>
          </p:cNvSpPr>
          <p:nvPr>
            <p:ph type="ftr" sz="quarter" idx="11"/>
          </p:nvPr>
        </p:nvSpPr>
        <p:spPr/>
        <p:txBody>
          <a:bodyPr/>
          <a:lstStyle/>
          <a:p>
            <a:r>
              <a:rPr lang="en-US"/>
              <a:t>Transaction Service POC</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17976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1230F9B-80C4-40F9-A9D0-F4B3047CAFF4}" type="datetime1">
              <a:rPr lang="en-US" smtClean="0"/>
              <a:t>1/12/2026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Transaction Service POC</a:t>
            </a:r>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827782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87F73EE-C830-4C7F-9D0C-C16A680FA7E5}"/>
              </a:ext>
            </a:extLst>
          </p:cNvPr>
          <p:cNvSpPr>
            <a:spLocks noGrp="1"/>
          </p:cNvSpPr>
          <p:nvPr>
            <p:ph type="ctrTitle"/>
          </p:nvPr>
        </p:nvSpPr>
        <p:spPr>
          <a:xfrm>
            <a:off x="1097280" y="758952"/>
            <a:ext cx="10058400" cy="3566160"/>
          </a:xfrm>
        </p:spPr>
        <p:txBody>
          <a:bodyPr/>
          <a:lstStyle/>
          <a:p>
            <a:r>
              <a:rPr lang="en-US" dirty="0">
                <a:latin typeface="Sans"/>
              </a:rPr>
              <a:t>Software Design Pattern</a:t>
            </a:r>
          </a:p>
        </p:txBody>
      </p:sp>
      <p:sp>
        <p:nvSpPr>
          <p:cNvPr id="7" name="Subtitle 6">
            <a:extLst>
              <a:ext uri="{FF2B5EF4-FFF2-40B4-BE49-F238E27FC236}">
                <a16:creationId xmlns:a16="http://schemas.microsoft.com/office/drawing/2014/main" id="{68E85247-FFCD-4ECF-A2F4-5B401B714586}"/>
              </a:ext>
            </a:extLst>
          </p:cNvPr>
          <p:cNvSpPr>
            <a:spLocks noGrp="1"/>
          </p:cNvSpPr>
          <p:nvPr>
            <p:ph type="subTitle" idx="1"/>
          </p:nvPr>
        </p:nvSpPr>
        <p:spPr>
          <a:xfrm>
            <a:off x="1100051" y="4455621"/>
            <a:ext cx="10058400" cy="1143000"/>
          </a:xfrm>
        </p:spPr>
        <p:txBody>
          <a:bodyPr vert="horz" lIns="91440" tIns="45720" rIns="91440" bIns="45720" rtlCol="0" anchor="t">
            <a:normAutofit/>
          </a:bodyPr>
          <a:lstStyle/>
          <a:p>
            <a:r>
              <a:rPr lang="en-US" dirty="0"/>
              <a:t>Designing Robust, Scalable, and Clean Code Architectures</a:t>
            </a:r>
          </a:p>
        </p:txBody>
      </p:sp>
    </p:spTree>
    <p:extLst>
      <p:ext uri="{BB962C8B-B14F-4D97-AF65-F5344CB8AC3E}">
        <p14:creationId xmlns:p14="http://schemas.microsoft.com/office/powerpoint/2010/main" val="3457800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3" y="21390"/>
            <a:ext cx="5208104" cy="646331"/>
          </a:xfrm>
          <a:prstGeom prst="rect">
            <a:avLst/>
          </a:prstGeom>
          <a:noFill/>
        </p:spPr>
        <p:txBody>
          <a:bodyPr wrap="square" rtlCol="0">
            <a:spAutoFit/>
          </a:bodyPr>
          <a:lstStyle/>
          <a:p>
            <a:r>
              <a:rPr lang="en-US" sz="3600" b="1" dirty="0">
                <a:latin typeface="Sans"/>
              </a:rPr>
              <a:t>Table of Contents</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2</a:t>
            </a:fld>
            <a:endParaRPr lang="en-US" dirty="0"/>
          </a:p>
        </p:txBody>
      </p:sp>
      <p:sp>
        <p:nvSpPr>
          <p:cNvPr id="8" name="Rectangle 1">
            <a:extLst>
              <a:ext uri="{FF2B5EF4-FFF2-40B4-BE49-F238E27FC236}">
                <a16:creationId xmlns:a16="http://schemas.microsoft.com/office/drawing/2014/main" id="{8CD77F9E-DC31-442A-BAC6-4316BB8475A0}"/>
              </a:ext>
            </a:extLst>
          </p:cNvPr>
          <p:cNvSpPr>
            <a:spLocks noChangeArrowheads="1"/>
          </p:cNvSpPr>
          <p:nvPr/>
        </p:nvSpPr>
        <p:spPr bwMode="auto">
          <a:xfrm>
            <a:off x="738210" y="1344368"/>
            <a:ext cx="6400800" cy="1883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nSpc>
                <a:spcPct val="150000"/>
              </a:lnSpc>
              <a:buFont typeface="Arial" panose="020B0604020202020204" pitchFamily="34" charset="0"/>
              <a:buChar char="•"/>
            </a:pPr>
            <a:r>
              <a:rPr lang="en-US" sz="2000" dirty="0">
                <a:latin typeface="Times New Roman" panose="02020603050405020304" pitchFamily="18" charset="0"/>
                <a:ea typeface="Tahoma" panose="020B0604030504040204" pitchFamily="34" charset="0"/>
                <a:cs typeface="Times New Roman" panose="02020603050405020304" pitchFamily="18" charset="0"/>
              </a:rPr>
              <a:t>SOLID Principle</a:t>
            </a:r>
          </a:p>
          <a:p>
            <a:pPr marL="457200" indent="-457200">
              <a:lnSpc>
                <a:spcPct val="150000"/>
              </a:lnSpc>
              <a:buFont typeface="Arial" panose="020B0604020202020204" pitchFamily="34" charset="0"/>
              <a:buChar char="•"/>
            </a:pPr>
            <a:r>
              <a:rPr lang="en-US" sz="2000" dirty="0">
                <a:latin typeface="Times New Roman" panose="02020603050405020304" pitchFamily="18" charset="0"/>
                <a:ea typeface="Tahoma" panose="020B0604030504040204" pitchFamily="34" charset="0"/>
                <a:cs typeface="Times New Roman" panose="02020603050405020304" pitchFamily="18" charset="0"/>
              </a:rPr>
              <a:t>Creational Design Patterns</a:t>
            </a:r>
          </a:p>
          <a:p>
            <a:pPr marL="457200" indent="-457200">
              <a:lnSpc>
                <a:spcPct val="150000"/>
              </a:lnSpc>
              <a:buFont typeface="Arial" panose="020B0604020202020204" pitchFamily="34" charset="0"/>
              <a:buChar char="•"/>
            </a:pPr>
            <a:r>
              <a:rPr lang="en-US" sz="2000" dirty="0">
                <a:latin typeface="Times New Roman" panose="02020603050405020304" pitchFamily="18" charset="0"/>
                <a:ea typeface="Tahoma" panose="020B0604030504040204" pitchFamily="34" charset="0"/>
                <a:cs typeface="Times New Roman" panose="02020603050405020304" pitchFamily="18" charset="0"/>
              </a:rPr>
              <a:t>Behavioral Design Patterns</a:t>
            </a:r>
          </a:p>
          <a:p>
            <a:pPr marL="457200" indent="-457200">
              <a:lnSpc>
                <a:spcPct val="150000"/>
              </a:lnSpc>
              <a:buFont typeface="Arial" panose="020B0604020202020204" pitchFamily="34" charset="0"/>
              <a:buChar char="•"/>
            </a:pPr>
            <a:r>
              <a:rPr lang="en-US" sz="2000" dirty="0">
                <a:latin typeface="Times New Roman" panose="02020603050405020304" pitchFamily="18" charset="0"/>
                <a:ea typeface="Tahoma" panose="020B0604030504040204" pitchFamily="34" charset="0"/>
                <a:cs typeface="Times New Roman" panose="02020603050405020304" pitchFamily="18" charset="0"/>
              </a:rPr>
              <a:t>Structural Design Patterns</a:t>
            </a:r>
          </a:p>
        </p:txBody>
      </p:sp>
      <p:sp>
        <p:nvSpPr>
          <p:cNvPr id="9" name="Footer Placeholder 5">
            <a:extLst>
              <a:ext uri="{FF2B5EF4-FFF2-40B4-BE49-F238E27FC236}">
                <a16:creationId xmlns:a16="http://schemas.microsoft.com/office/drawing/2014/main" id="{3308C40F-76BB-43D5-AEAA-D7B8021D29B8}"/>
              </a:ext>
            </a:extLst>
          </p:cNvPr>
          <p:cNvSpPr>
            <a:spLocks noGrp="1"/>
          </p:cNvSpPr>
          <p:nvPr>
            <p:ph type="ftr" sz="quarter" idx="11"/>
          </p:nvPr>
        </p:nvSpPr>
        <p:spPr>
          <a:xfrm>
            <a:off x="3686185" y="6459785"/>
            <a:ext cx="4822804" cy="365125"/>
          </a:xfrm>
        </p:spPr>
        <p:txBody>
          <a:bodyPr/>
          <a:lstStyle/>
          <a:p>
            <a:r>
              <a:rPr lang="en-US" dirty="0"/>
              <a:t>Software design patterns</a:t>
            </a:r>
          </a:p>
        </p:txBody>
      </p:sp>
    </p:spTree>
    <p:extLst>
      <p:ext uri="{BB962C8B-B14F-4D97-AF65-F5344CB8AC3E}">
        <p14:creationId xmlns:p14="http://schemas.microsoft.com/office/powerpoint/2010/main" val="2470942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3" y="21390"/>
            <a:ext cx="5208104" cy="646331"/>
          </a:xfrm>
          <a:prstGeom prst="rect">
            <a:avLst/>
          </a:prstGeom>
          <a:noFill/>
        </p:spPr>
        <p:txBody>
          <a:bodyPr wrap="square" rtlCol="0">
            <a:spAutoFit/>
          </a:bodyPr>
          <a:lstStyle/>
          <a:p>
            <a:r>
              <a:rPr lang="en-US" sz="3600" b="1" dirty="0">
                <a:latin typeface="Sans"/>
              </a:rPr>
              <a:t>Design Pattern</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3</a:t>
            </a:fld>
            <a:endParaRPr lang="en-US" dirty="0"/>
          </a:p>
        </p:txBody>
      </p:sp>
      <p:sp>
        <p:nvSpPr>
          <p:cNvPr id="9" name="Footer Placeholder 5">
            <a:extLst>
              <a:ext uri="{FF2B5EF4-FFF2-40B4-BE49-F238E27FC236}">
                <a16:creationId xmlns:a16="http://schemas.microsoft.com/office/drawing/2014/main" id="{3308C40F-76BB-43D5-AEAA-D7B8021D29B8}"/>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12" name="TextBox 11">
            <a:extLst>
              <a:ext uri="{FF2B5EF4-FFF2-40B4-BE49-F238E27FC236}">
                <a16:creationId xmlns:a16="http://schemas.microsoft.com/office/drawing/2014/main" id="{9F77122B-F2E6-4597-8338-7A51656A59D1}"/>
              </a:ext>
            </a:extLst>
          </p:cNvPr>
          <p:cNvSpPr txBox="1"/>
          <p:nvPr/>
        </p:nvSpPr>
        <p:spPr>
          <a:xfrm>
            <a:off x="610641" y="930074"/>
            <a:ext cx="10970718" cy="129266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What is Design Pattern?</a:t>
            </a:r>
          </a:p>
          <a:p>
            <a:endParaRPr lang="en-US" sz="500"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Design patterns are reusable solutions to common software design problems that help developers build cleaner and more maintainable systems. They provide templates for solving issues in object creation, structure, and behavioral. They  can make your code more flexible , reusable and scalable.</a:t>
            </a:r>
          </a:p>
        </p:txBody>
      </p:sp>
      <p:sp>
        <p:nvSpPr>
          <p:cNvPr id="14" name="TextBox 13">
            <a:extLst>
              <a:ext uri="{FF2B5EF4-FFF2-40B4-BE49-F238E27FC236}">
                <a16:creationId xmlns:a16="http://schemas.microsoft.com/office/drawing/2014/main" id="{A706FDCF-84EB-4DBA-9562-0ECC02E2BD4F}"/>
              </a:ext>
            </a:extLst>
          </p:cNvPr>
          <p:cNvSpPr txBox="1"/>
          <p:nvPr/>
        </p:nvSpPr>
        <p:spPr>
          <a:xfrm>
            <a:off x="596869" y="2390325"/>
            <a:ext cx="10998262" cy="135421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What is Gang of Four (GOF)?</a:t>
            </a:r>
          </a:p>
          <a:p>
            <a:endParaRPr lang="en-US" sz="1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1994, Erich Gamma, Richard Helm, Ralph Johnson, and John </a:t>
            </a:r>
            <a:r>
              <a:rPr lang="en-US" dirty="0" err="1">
                <a:latin typeface="Times New Roman" panose="02020603050405020304" pitchFamily="18" charset="0"/>
                <a:cs typeface="Times New Roman" panose="02020603050405020304" pitchFamily="18" charset="0"/>
              </a:rPr>
              <a:t>Vlissides</a:t>
            </a:r>
            <a:r>
              <a:rPr lang="en-US" dirty="0">
                <a:latin typeface="Times New Roman" panose="02020603050405020304" pitchFamily="18" charset="0"/>
                <a:cs typeface="Times New Roman" panose="02020603050405020304" pitchFamily="18" charset="0"/>
              </a:rPr>
              <a:t> published the book “Design Patterns: Elements of Reusable Object-Oriented Software”. These authors are collectively called the Gang of Four (GOF).</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They introduced the concept of design patterns in software development.</a:t>
            </a:r>
          </a:p>
        </p:txBody>
      </p:sp>
      <p:sp>
        <p:nvSpPr>
          <p:cNvPr id="16" name="TextBox 15">
            <a:extLst>
              <a:ext uri="{FF2B5EF4-FFF2-40B4-BE49-F238E27FC236}">
                <a16:creationId xmlns:a16="http://schemas.microsoft.com/office/drawing/2014/main" id="{B7444F82-A067-4D08-88BB-6C5F91174200}"/>
              </a:ext>
            </a:extLst>
          </p:cNvPr>
          <p:cNvSpPr txBox="1"/>
          <p:nvPr/>
        </p:nvSpPr>
        <p:spPr>
          <a:xfrm>
            <a:off x="638185" y="3835296"/>
            <a:ext cx="6096000" cy="193899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What does a Design Pattern do?</a:t>
            </a:r>
          </a:p>
          <a:p>
            <a:endParaRPr lang="en-US" sz="9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Solves recurring design problems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Improves code structure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Makes code flexible and reusable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Makes software easy to maintain and extend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 proven solution, not trial-and-error</a:t>
            </a:r>
          </a:p>
        </p:txBody>
      </p:sp>
    </p:spTree>
    <p:extLst>
      <p:ext uri="{BB962C8B-B14F-4D97-AF65-F5344CB8AC3E}">
        <p14:creationId xmlns:p14="http://schemas.microsoft.com/office/powerpoint/2010/main" val="2663151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Solid Principles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4</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pic>
        <p:nvPicPr>
          <p:cNvPr id="6146" name="Picture 2" descr="SOLID Principles with Real Life Examples - GeeksforGeeks">
            <a:extLst>
              <a:ext uri="{FF2B5EF4-FFF2-40B4-BE49-F238E27FC236}">
                <a16:creationId xmlns:a16="http://schemas.microsoft.com/office/drawing/2014/main" id="{908F16B1-49F1-420D-856C-70599ECEA4D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 r="12169"/>
          <a:stretch/>
        </p:blipFill>
        <p:spPr bwMode="auto">
          <a:xfrm>
            <a:off x="6313320" y="1738157"/>
            <a:ext cx="5587131" cy="377295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a:extLst>
              <a:ext uri="{FF2B5EF4-FFF2-40B4-BE49-F238E27FC236}">
                <a16:creationId xmlns:a16="http://schemas.microsoft.com/office/drawing/2014/main" id="{EB521F68-5610-4B4B-A226-B98304E60ACD}"/>
              </a:ext>
            </a:extLst>
          </p:cNvPr>
          <p:cNvSpPr>
            <a:spLocks noChangeArrowheads="1"/>
          </p:cNvSpPr>
          <p:nvPr/>
        </p:nvSpPr>
        <p:spPr bwMode="auto">
          <a:xfrm>
            <a:off x="622852" y="1711277"/>
            <a:ext cx="5512904" cy="3805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SOLID?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05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Encourages loose coupling between classes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dependency among components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Makes code reusable, stable, and easy to modify</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Minimizes impact when changes are made in one part of the system</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Loosely coupled classes ensure that changes in one class do not require changes in others, improving overall software quality.</a:t>
            </a:r>
          </a:p>
        </p:txBody>
      </p:sp>
      <p:sp>
        <p:nvSpPr>
          <p:cNvPr id="12" name="TextBox 11">
            <a:extLst>
              <a:ext uri="{FF2B5EF4-FFF2-40B4-BE49-F238E27FC236}">
                <a16:creationId xmlns:a16="http://schemas.microsoft.com/office/drawing/2014/main" id="{BE5F7705-E0F0-4336-9CED-567596673E4E}"/>
              </a:ext>
            </a:extLst>
          </p:cNvPr>
          <p:cNvSpPr txBox="1"/>
          <p:nvPr/>
        </p:nvSpPr>
        <p:spPr>
          <a:xfrm>
            <a:off x="622852" y="898878"/>
            <a:ext cx="10719976"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SOLID is a set of five design principles that improve software design by making code maintainable, scalable, and flexible.</a:t>
            </a:r>
          </a:p>
        </p:txBody>
      </p:sp>
    </p:spTree>
    <p:extLst>
      <p:ext uri="{BB962C8B-B14F-4D97-AF65-F5344CB8AC3E}">
        <p14:creationId xmlns:p14="http://schemas.microsoft.com/office/powerpoint/2010/main" val="3660901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9667"/>
            <a:ext cx="8200321" cy="658054"/>
          </a:xfrm>
          <a:prstGeom prst="rect">
            <a:avLst/>
          </a:prstGeom>
          <a:noFill/>
        </p:spPr>
        <p:txBody>
          <a:bodyPr wrap="square" rtlCol="0">
            <a:spAutoFit/>
          </a:bodyPr>
          <a:lstStyle/>
          <a:p>
            <a:r>
              <a:rPr lang="en-US" sz="3600" b="1" dirty="0">
                <a:latin typeface="Sans"/>
              </a:rPr>
              <a:t>Single Responsibility Principle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5</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13" name="TextBox 12">
            <a:extLst>
              <a:ext uri="{FF2B5EF4-FFF2-40B4-BE49-F238E27FC236}">
                <a16:creationId xmlns:a16="http://schemas.microsoft.com/office/drawing/2014/main" id="{A1F150EA-F678-4D70-B4C1-1956DE12E365}"/>
              </a:ext>
            </a:extLst>
          </p:cNvPr>
          <p:cNvSpPr txBox="1"/>
          <p:nvPr/>
        </p:nvSpPr>
        <p:spPr>
          <a:xfrm>
            <a:off x="622851" y="999915"/>
            <a:ext cx="10986052"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This principle states that a class should have only one reason to change, meaning it should be responsible for only one part of the software’s functionality.</a:t>
            </a:r>
          </a:p>
        </p:txBody>
      </p:sp>
      <p:sp>
        <p:nvSpPr>
          <p:cNvPr id="14" name="TextBox 13">
            <a:extLst>
              <a:ext uri="{FF2B5EF4-FFF2-40B4-BE49-F238E27FC236}">
                <a16:creationId xmlns:a16="http://schemas.microsoft.com/office/drawing/2014/main" id="{4879BB52-433D-44C8-A4BB-33D3131C090A}"/>
              </a:ext>
            </a:extLst>
          </p:cNvPr>
          <p:cNvSpPr txBox="1"/>
          <p:nvPr/>
        </p:nvSpPr>
        <p:spPr>
          <a:xfrm>
            <a:off x="622851" y="1892541"/>
            <a:ext cx="10137914" cy="2392963"/>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In mathematical term,</a:t>
            </a:r>
          </a:p>
          <a:p>
            <a:r>
              <a:rPr lang="en-US" dirty="0">
                <a:latin typeface="Times New Roman" panose="02020603050405020304" pitchFamily="18" charset="0"/>
                <a:cs typeface="Times New Roman" panose="02020603050405020304" pitchFamily="18" charset="0"/>
              </a:rPr>
              <a:t>Let C be a class and R(C) be the set of responsibilities handled by C.</a:t>
            </a:r>
          </a:p>
          <a:p>
            <a:endParaRPr lang="en-US" sz="11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R(C) = { r1, r2, …, </a:t>
            </a:r>
            <a:r>
              <a:rPr lang="en-US" dirty="0" err="1">
                <a:latin typeface="Times New Roman" panose="02020603050405020304" pitchFamily="18" charset="0"/>
                <a:cs typeface="Times New Roman" panose="02020603050405020304" pitchFamily="18" charset="0"/>
              </a:rPr>
              <a:t>rn</a:t>
            </a:r>
            <a:r>
              <a:rPr lang="en-US" dirty="0">
                <a:latin typeface="Times New Roman" panose="02020603050405020304" pitchFamily="18" charset="0"/>
                <a:cs typeface="Times New Roman" panose="02020603050405020304" pitchFamily="18" charset="0"/>
              </a:rPr>
              <a:t> }</a:t>
            </a:r>
          </a:p>
          <a:p>
            <a:endParaRPr lang="en-US" sz="105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According to SRP:</a:t>
            </a:r>
          </a:p>
          <a:p>
            <a:endParaRPr lang="en-US" sz="8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|R(C)| =1</a:t>
            </a:r>
          </a:p>
          <a:p>
            <a:endParaRPr lang="en-US" sz="11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class should have exactly one responsibility.</a:t>
            </a:r>
          </a:p>
        </p:txBody>
      </p:sp>
      <p:sp>
        <p:nvSpPr>
          <p:cNvPr id="16" name="TextBox 15">
            <a:extLst>
              <a:ext uri="{FF2B5EF4-FFF2-40B4-BE49-F238E27FC236}">
                <a16:creationId xmlns:a16="http://schemas.microsoft.com/office/drawing/2014/main" id="{7A817408-D9E4-413A-8B77-9ED3367EDF23}"/>
              </a:ext>
            </a:extLst>
          </p:cNvPr>
          <p:cNvSpPr txBox="1"/>
          <p:nvPr/>
        </p:nvSpPr>
        <p:spPr>
          <a:xfrm>
            <a:off x="622851" y="4530773"/>
            <a:ext cx="6096000" cy="135421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Purposes: </a:t>
            </a:r>
          </a:p>
          <a:p>
            <a:endParaRPr lang="en-US" sz="9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Improves maintainability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Reduces side effects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Makes code easier to understand</a:t>
            </a:r>
          </a:p>
        </p:txBody>
      </p:sp>
    </p:spTree>
    <p:extLst>
      <p:ext uri="{BB962C8B-B14F-4D97-AF65-F5344CB8AC3E}">
        <p14:creationId xmlns:p14="http://schemas.microsoft.com/office/powerpoint/2010/main" val="3375783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Open/Closed Principle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6</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15" name="TextBox 14">
            <a:extLst>
              <a:ext uri="{FF2B5EF4-FFF2-40B4-BE49-F238E27FC236}">
                <a16:creationId xmlns:a16="http://schemas.microsoft.com/office/drawing/2014/main" id="{C1FA8797-0C6F-440C-8370-F2DB3FDC27BE}"/>
              </a:ext>
            </a:extLst>
          </p:cNvPr>
          <p:cNvSpPr txBox="1"/>
          <p:nvPr/>
        </p:nvSpPr>
        <p:spPr>
          <a:xfrm>
            <a:off x="622851" y="962808"/>
            <a:ext cx="10589631" cy="646331"/>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This principle states that "Software entities (classes, functions, etc.) should be open for extension, but closed for modification" which means we should be able to add new functionality without changing existing code</a:t>
            </a:r>
          </a:p>
        </p:txBody>
      </p:sp>
      <p:sp>
        <p:nvSpPr>
          <p:cNvPr id="10" name="Rectangle 1">
            <a:extLst>
              <a:ext uri="{FF2B5EF4-FFF2-40B4-BE49-F238E27FC236}">
                <a16:creationId xmlns:a16="http://schemas.microsoft.com/office/drawing/2014/main" id="{CE68C975-AB54-430D-85F4-6D43CAC89B72}"/>
              </a:ext>
            </a:extLst>
          </p:cNvPr>
          <p:cNvSpPr>
            <a:spLocks noChangeArrowheads="1"/>
          </p:cNvSpPr>
          <p:nvPr/>
        </p:nvSpPr>
        <p:spPr bwMode="auto">
          <a:xfrm>
            <a:off x="622851" y="3938543"/>
            <a:ext cx="8057322"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Prevent bugs by avoiding modifications to existing, tested code </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 new features without breaking current functionality </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 maintenance costs and development time </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easy scalability as requirements grow </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Future-proof code against changing requirements </a:t>
            </a:r>
          </a:p>
        </p:txBody>
      </p:sp>
      <p:pic>
        <p:nvPicPr>
          <p:cNvPr id="5123" name="Picture 3" descr="Understanding SOLID in C++ : Open Closed Principle">
            <a:extLst>
              <a:ext uri="{FF2B5EF4-FFF2-40B4-BE49-F238E27FC236}">
                <a16:creationId xmlns:a16="http://schemas.microsoft.com/office/drawing/2014/main" id="{B417ED97-B3F0-413A-94F3-04480A18DD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559" r="15508"/>
          <a:stretch/>
        </p:blipFill>
        <p:spPr bwMode="auto">
          <a:xfrm>
            <a:off x="8494643" y="1986020"/>
            <a:ext cx="3697357" cy="3155466"/>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D1B692AD-50C3-44A9-B66F-CD3450929384}"/>
              </a:ext>
            </a:extLst>
          </p:cNvPr>
          <p:cNvSpPr txBox="1"/>
          <p:nvPr/>
        </p:nvSpPr>
        <p:spPr>
          <a:xfrm>
            <a:off x="622851" y="1896678"/>
            <a:ext cx="7628892" cy="1754326"/>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Let,</a:t>
            </a:r>
          </a:p>
          <a:p>
            <a:r>
              <a:rPr lang="en-US" dirty="0">
                <a:latin typeface="Times New Roman" panose="02020603050405020304" pitchFamily="18" charset="0"/>
                <a:cs typeface="Times New Roman" panose="02020603050405020304" pitchFamily="18" charset="0"/>
              </a:rPr>
              <a:t>C = original class </a:t>
            </a:r>
          </a:p>
          <a:p>
            <a:r>
              <a:rPr lang="en-US" dirty="0">
                <a:latin typeface="Times New Roman" panose="02020603050405020304" pitchFamily="18" charset="0"/>
                <a:cs typeface="Times New Roman" panose="02020603050405020304" pitchFamily="18" charset="0"/>
              </a:rPr>
              <a:t>B(C) = behavior of class C </a:t>
            </a:r>
          </a:p>
          <a:p>
            <a:r>
              <a:rPr lang="en-US" dirty="0">
                <a:latin typeface="Times New Roman" panose="02020603050405020304" pitchFamily="18" charset="0"/>
                <a:cs typeface="Times New Roman" panose="02020603050405020304" pitchFamily="18" charset="0"/>
              </a:rPr>
              <a:t>ΔB = new behavior (extension) </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OCP Formula:    </a:t>
            </a:r>
            <a:r>
              <a:rPr lang="en-US" dirty="0">
                <a:latin typeface="Times New Roman" panose="02020603050405020304" pitchFamily="18" charset="0"/>
                <a:cs typeface="Times New Roman" panose="02020603050405020304" pitchFamily="18" charset="0"/>
              </a:rPr>
              <a:t>B(</a:t>
            </a:r>
            <a:r>
              <a:rPr lang="en-US" dirty="0" err="1">
                <a:latin typeface="Times New Roman" panose="02020603050405020304" pitchFamily="18" charset="0"/>
                <a:cs typeface="Times New Roman" panose="02020603050405020304" pitchFamily="18" charset="0"/>
              </a:rPr>
              <a:t>C_new</a:t>
            </a:r>
            <a:r>
              <a:rPr lang="en-US" dirty="0">
                <a:latin typeface="Times New Roman" panose="02020603050405020304" pitchFamily="18" charset="0"/>
                <a:cs typeface="Times New Roman" panose="02020603050405020304" pitchFamily="18" charset="0"/>
              </a:rPr>
              <a:t>) = B(C) + ΔB where C is unchanged</a:t>
            </a:r>
          </a:p>
        </p:txBody>
      </p:sp>
    </p:spTree>
    <p:extLst>
      <p:ext uri="{BB962C8B-B14F-4D97-AF65-F5344CB8AC3E}">
        <p14:creationId xmlns:p14="http://schemas.microsoft.com/office/powerpoint/2010/main" val="1140754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34575" y="9667"/>
            <a:ext cx="7321091" cy="658054"/>
          </a:xfrm>
          <a:prstGeom prst="rect">
            <a:avLst/>
          </a:prstGeom>
          <a:noFill/>
        </p:spPr>
        <p:txBody>
          <a:bodyPr wrap="square" rtlCol="0">
            <a:spAutoFit/>
          </a:bodyPr>
          <a:lstStyle/>
          <a:p>
            <a:r>
              <a:rPr lang="en-US" sz="3600" b="1" dirty="0" err="1">
                <a:latin typeface="Sans"/>
              </a:rPr>
              <a:t>Liskov's</a:t>
            </a:r>
            <a:r>
              <a:rPr lang="en-US" sz="3600" b="1" dirty="0">
                <a:latin typeface="Sans"/>
              </a:rPr>
              <a:t> Substitution Principle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7</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9" name="TextBox 8">
            <a:extLst>
              <a:ext uri="{FF2B5EF4-FFF2-40B4-BE49-F238E27FC236}">
                <a16:creationId xmlns:a16="http://schemas.microsoft.com/office/drawing/2014/main" id="{8029DF26-3FA1-48AD-A7CE-DD254A64F666}"/>
              </a:ext>
            </a:extLst>
          </p:cNvPr>
          <p:cNvSpPr txBox="1"/>
          <p:nvPr/>
        </p:nvSpPr>
        <p:spPr>
          <a:xfrm>
            <a:off x="640465" y="982821"/>
            <a:ext cx="10968437"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Objects of a superclass should be replaceable with objects of a subclass without breaking the application or altering its correctness</a:t>
            </a:r>
          </a:p>
        </p:txBody>
      </p:sp>
      <p:sp>
        <p:nvSpPr>
          <p:cNvPr id="6" name="Rectangle 1">
            <a:extLst>
              <a:ext uri="{FF2B5EF4-FFF2-40B4-BE49-F238E27FC236}">
                <a16:creationId xmlns:a16="http://schemas.microsoft.com/office/drawing/2014/main" id="{35B69A7A-5F1E-4639-902F-079D54175457}"/>
              </a:ext>
            </a:extLst>
          </p:cNvPr>
          <p:cNvSpPr>
            <a:spLocks noChangeArrowheads="1"/>
          </p:cNvSpPr>
          <p:nvPr/>
        </p:nvSpPr>
        <p:spPr bwMode="auto">
          <a:xfrm>
            <a:off x="622852" y="1944252"/>
            <a:ext cx="6489205" cy="2812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 subtypes can replace parent types without breaking functionality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Prevent unexpected bugs from polymorphic substitution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 behavioral consistency across inheritance hierarchies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reliable use of polymorphism and inheritance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Guarantee that derived classes honor the contract of base classes </a:t>
            </a:r>
          </a:p>
        </p:txBody>
      </p:sp>
      <p:pic>
        <p:nvPicPr>
          <p:cNvPr id="12" name="Picture 11">
            <a:extLst>
              <a:ext uri="{FF2B5EF4-FFF2-40B4-BE49-F238E27FC236}">
                <a16:creationId xmlns:a16="http://schemas.microsoft.com/office/drawing/2014/main" id="{1C1C1E80-2800-48DD-8B5D-B0CE46989CF5}"/>
              </a:ext>
            </a:extLst>
          </p:cNvPr>
          <p:cNvPicPr>
            <a:picLocks noChangeAspect="1"/>
          </p:cNvPicPr>
          <p:nvPr/>
        </p:nvPicPr>
        <p:blipFill rotWithShape="1">
          <a:blip r:embed="rId3"/>
          <a:srcRect l="21853" t="17436" r="22348" b="25136"/>
          <a:stretch/>
        </p:blipFill>
        <p:spPr>
          <a:xfrm>
            <a:off x="7940132" y="2082611"/>
            <a:ext cx="4251868" cy="2915479"/>
          </a:xfrm>
          <a:prstGeom prst="rect">
            <a:avLst/>
          </a:prstGeom>
        </p:spPr>
      </p:pic>
    </p:spTree>
    <p:extLst>
      <p:ext uri="{BB962C8B-B14F-4D97-AF65-F5344CB8AC3E}">
        <p14:creationId xmlns:p14="http://schemas.microsoft.com/office/powerpoint/2010/main" val="427674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9667"/>
            <a:ext cx="7156967" cy="658054"/>
          </a:xfrm>
          <a:prstGeom prst="rect">
            <a:avLst/>
          </a:prstGeom>
          <a:noFill/>
        </p:spPr>
        <p:txBody>
          <a:bodyPr wrap="square" rtlCol="0">
            <a:spAutoFit/>
          </a:bodyPr>
          <a:lstStyle/>
          <a:p>
            <a:r>
              <a:rPr lang="en-US" sz="3600" b="1" dirty="0">
                <a:latin typeface="Sans"/>
              </a:rPr>
              <a:t>Interface Segregation Principle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8</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9" name="TextBox 8">
            <a:extLst>
              <a:ext uri="{FF2B5EF4-FFF2-40B4-BE49-F238E27FC236}">
                <a16:creationId xmlns:a16="http://schemas.microsoft.com/office/drawing/2014/main" id="{FBBB90F6-3EBF-408F-8E04-4B81CF7677FD}"/>
              </a:ext>
            </a:extLst>
          </p:cNvPr>
          <p:cNvSpPr txBox="1"/>
          <p:nvPr/>
        </p:nvSpPr>
        <p:spPr>
          <a:xfrm>
            <a:off x="622852" y="863765"/>
            <a:ext cx="9457691"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No client should be forced to depend on interfaces or methods it does not use.</a:t>
            </a:r>
          </a:p>
        </p:txBody>
      </p:sp>
      <p:sp>
        <p:nvSpPr>
          <p:cNvPr id="13" name="TextBox 12">
            <a:extLst>
              <a:ext uri="{FF2B5EF4-FFF2-40B4-BE49-F238E27FC236}">
                <a16:creationId xmlns:a16="http://schemas.microsoft.com/office/drawing/2014/main" id="{353D0E46-F6A4-46CA-9D33-F585BD80FA8C}"/>
              </a:ext>
            </a:extLst>
          </p:cNvPr>
          <p:cNvSpPr txBox="1"/>
          <p:nvPr/>
        </p:nvSpPr>
        <p:spPr>
          <a:xfrm>
            <a:off x="622852" y="1397055"/>
            <a:ext cx="10572017"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We should prefer many client interfaces rather than one general interface and each interface should have a specific responsibility</a:t>
            </a:r>
          </a:p>
        </p:txBody>
      </p:sp>
      <p:sp>
        <p:nvSpPr>
          <p:cNvPr id="12" name="Rectangle 1">
            <a:extLst>
              <a:ext uri="{FF2B5EF4-FFF2-40B4-BE49-F238E27FC236}">
                <a16:creationId xmlns:a16="http://schemas.microsoft.com/office/drawing/2014/main" id="{FB6973B5-1AB3-4648-B4F6-6E304A83BFF6}"/>
              </a:ext>
            </a:extLst>
          </p:cNvPr>
          <p:cNvSpPr>
            <a:spLocks noChangeArrowheads="1"/>
          </p:cNvSpPr>
          <p:nvPr/>
        </p:nvSpPr>
        <p:spPr bwMode="auto">
          <a:xfrm>
            <a:off x="622852" y="2529690"/>
            <a:ext cx="6268278" cy="2723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Purposes: </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Prevent classes from implementing methods they don't need </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Reduce coupling between classes and interfaces </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Improve code maintainability and readability </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Enable easier refactoring and system evolution </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Avoid forcing clients to depend on unused functionality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075" name="Picture 3" descr="Interface Segregation Principle (ISP)">
            <a:extLst>
              <a:ext uri="{FF2B5EF4-FFF2-40B4-BE49-F238E27FC236}">
                <a16:creationId xmlns:a16="http://schemas.microsoft.com/office/drawing/2014/main" id="{232E2F95-9F25-488B-AA6A-EF53554570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6466" y="2359687"/>
            <a:ext cx="5743128" cy="2138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1787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1" y="21390"/>
            <a:ext cx="6453809" cy="646331"/>
          </a:xfrm>
          <a:prstGeom prst="rect">
            <a:avLst/>
          </a:prstGeom>
          <a:noFill/>
        </p:spPr>
        <p:txBody>
          <a:bodyPr wrap="square" rtlCol="0">
            <a:spAutoFit/>
          </a:bodyPr>
          <a:lstStyle/>
          <a:p>
            <a:r>
              <a:rPr lang="en-US" sz="3600" b="1" dirty="0">
                <a:latin typeface="Sans"/>
              </a:rPr>
              <a:t>Dependency Inversion Principle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9</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9" name="TextBox 8">
            <a:extLst>
              <a:ext uri="{FF2B5EF4-FFF2-40B4-BE49-F238E27FC236}">
                <a16:creationId xmlns:a16="http://schemas.microsoft.com/office/drawing/2014/main" id="{12620EBE-5E80-476D-B773-231F8B6BF881}"/>
              </a:ext>
            </a:extLst>
          </p:cNvPr>
          <p:cNvSpPr txBox="1"/>
          <p:nvPr/>
        </p:nvSpPr>
        <p:spPr>
          <a:xfrm>
            <a:off x="622851" y="884417"/>
            <a:ext cx="10690932"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High-level classes should not depend on low-level classes. Both should depend on abstractions. Abstractions should not depend on details. Details should depend on abstractions</a:t>
            </a:r>
          </a:p>
        </p:txBody>
      </p:sp>
      <p:sp>
        <p:nvSpPr>
          <p:cNvPr id="11" name="TextBox 10">
            <a:extLst>
              <a:ext uri="{FF2B5EF4-FFF2-40B4-BE49-F238E27FC236}">
                <a16:creationId xmlns:a16="http://schemas.microsoft.com/office/drawing/2014/main" id="{0F0DFFEE-BB00-4F0E-B929-79BC0277C284}"/>
              </a:ext>
            </a:extLst>
          </p:cNvPr>
          <p:cNvSpPr txBox="1"/>
          <p:nvPr/>
        </p:nvSpPr>
        <p:spPr>
          <a:xfrm>
            <a:off x="622851" y="1635998"/>
            <a:ext cx="10111410" cy="161582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                                  H → A ← L </a:t>
            </a:r>
          </a:p>
          <a:p>
            <a:endParaRPr lang="en-US" sz="900"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Where: </a:t>
            </a:r>
          </a:p>
          <a:p>
            <a:r>
              <a:rPr lang="en-US" dirty="0">
                <a:latin typeface="Times New Roman" panose="02020603050405020304" pitchFamily="18" charset="0"/>
                <a:cs typeface="Times New Roman" panose="02020603050405020304" pitchFamily="18" charset="0"/>
              </a:rPr>
              <a:t>H depends on A (abstraction)</a:t>
            </a:r>
          </a:p>
          <a:p>
            <a:r>
              <a:rPr lang="en-US" dirty="0">
                <a:latin typeface="Times New Roman" panose="02020603050405020304" pitchFamily="18" charset="0"/>
                <a:cs typeface="Times New Roman" panose="02020603050405020304" pitchFamily="18" charset="0"/>
              </a:rPr>
              <a:t>L implements A (abstraction)</a:t>
            </a:r>
          </a:p>
          <a:p>
            <a:r>
              <a:rPr lang="en-US" dirty="0">
                <a:latin typeface="Times New Roman" panose="02020603050405020304" pitchFamily="18" charset="0"/>
                <a:cs typeface="Times New Roman" panose="02020603050405020304" pitchFamily="18" charset="0"/>
              </a:rPr>
              <a:t>H and L are decoupled through A</a:t>
            </a:r>
          </a:p>
        </p:txBody>
      </p:sp>
      <p:sp>
        <p:nvSpPr>
          <p:cNvPr id="13" name="TextBox 12">
            <a:extLst>
              <a:ext uri="{FF2B5EF4-FFF2-40B4-BE49-F238E27FC236}">
                <a16:creationId xmlns:a16="http://schemas.microsoft.com/office/drawing/2014/main" id="{950F24EE-9506-4F8C-A620-D1E9A2C707D7}"/>
              </a:ext>
            </a:extLst>
          </p:cNvPr>
          <p:cNvSpPr txBox="1"/>
          <p:nvPr/>
        </p:nvSpPr>
        <p:spPr>
          <a:xfrm>
            <a:off x="622851" y="3348935"/>
            <a:ext cx="8020216"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Instead of: </a:t>
            </a:r>
            <a:r>
              <a:rPr lang="en-US" dirty="0" err="1">
                <a:latin typeface="Times New Roman" panose="02020603050405020304" pitchFamily="18" charset="0"/>
                <a:cs typeface="Times New Roman" panose="02020603050405020304" pitchFamily="18" charset="0"/>
              </a:rPr>
              <a:t>HighLevel</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LowLevel</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Use: </a:t>
            </a:r>
            <a:r>
              <a:rPr lang="en-US" dirty="0" err="1">
                <a:latin typeface="Times New Roman" panose="02020603050405020304" pitchFamily="18" charset="0"/>
                <a:cs typeface="Times New Roman" panose="02020603050405020304" pitchFamily="18" charset="0"/>
              </a:rPr>
              <a:t>HighLevel</a:t>
            </a:r>
            <a:r>
              <a:rPr lang="en-US" dirty="0">
                <a:latin typeface="Times New Roman" panose="02020603050405020304" pitchFamily="18" charset="0"/>
                <a:cs typeface="Times New Roman" panose="02020603050405020304" pitchFamily="18" charset="0"/>
              </a:rPr>
              <a:t> → Interface ← </a:t>
            </a:r>
            <a:r>
              <a:rPr lang="en-US" dirty="0" err="1">
                <a:latin typeface="Times New Roman" panose="02020603050405020304" pitchFamily="18" charset="0"/>
                <a:cs typeface="Times New Roman" panose="02020603050405020304" pitchFamily="18" charset="0"/>
              </a:rPr>
              <a:t>LowLevel</a:t>
            </a:r>
            <a:endParaRPr lang="en-US" dirty="0">
              <a:latin typeface="Times New Roman" panose="02020603050405020304" pitchFamily="18" charset="0"/>
              <a:cs typeface="Times New Roman" panose="02020603050405020304" pitchFamily="18" charset="0"/>
            </a:endParaRPr>
          </a:p>
        </p:txBody>
      </p:sp>
      <p:sp>
        <p:nvSpPr>
          <p:cNvPr id="12" name="Rectangle 1">
            <a:extLst>
              <a:ext uri="{FF2B5EF4-FFF2-40B4-BE49-F238E27FC236}">
                <a16:creationId xmlns:a16="http://schemas.microsoft.com/office/drawing/2014/main" id="{F01714B6-63D5-4769-AB21-DE85902CCB3C}"/>
              </a:ext>
            </a:extLst>
          </p:cNvPr>
          <p:cNvSpPr>
            <a:spLocks noChangeArrowheads="1"/>
          </p:cNvSpPr>
          <p:nvPr/>
        </p:nvSpPr>
        <p:spPr bwMode="auto">
          <a:xfrm>
            <a:off x="622851" y="4092376"/>
            <a:ext cx="739471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Decouple high-level business logic from low-level implementation details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Make systems more flexible and easier to change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easy testing through dependency injection and mocking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 the impact of changes in low-level modules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Promote code reusability and modularity </a:t>
            </a:r>
          </a:p>
        </p:txBody>
      </p:sp>
    </p:spTree>
    <p:extLst>
      <p:ext uri="{BB962C8B-B14F-4D97-AF65-F5344CB8AC3E}">
        <p14:creationId xmlns:p14="http://schemas.microsoft.com/office/powerpoint/2010/main" val="4254657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1" y="21390"/>
            <a:ext cx="7131620" cy="646331"/>
          </a:xfrm>
          <a:prstGeom prst="rect">
            <a:avLst/>
          </a:prstGeom>
          <a:noFill/>
        </p:spPr>
        <p:txBody>
          <a:bodyPr wrap="square" rtlCol="0">
            <a:spAutoFit/>
          </a:bodyPr>
          <a:lstStyle/>
          <a:p>
            <a:r>
              <a:rPr lang="en-US" sz="3600" b="1" dirty="0">
                <a:latin typeface="Sans"/>
              </a:rPr>
              <a:t>Problems Without SOLID Principle</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10</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15" name="Rectangle 14">
            <a:extLst>
              <a:ext uri="{FF2B5EF4-FFF2-40B4-BE49-F238E27FC236}">
                <a16:creationId xmlns:a16="http://schemas.microsoft.com/office/drawing/2014/main" id="{582FECD2-9E30-4A0A-8765-EB4130710059}"/>
              </a:ext>
            </a:extLst>
          </p:cNvPr>
          <p:cNvSpPr/>
          <p:nvPr/>
        </p:nvSpPr>
        <p:spPr>
          <a:xfrm>
            <a:off x="602974" y="1034019"/>
            <a:ext cx="10986052" cy="4197559"/>
          </a:xfrm>
          <a:prstGeom prst="rect">
            <a:avLst/>
          </a:prstGeom>
        </p:spPr>
        <p:txBody>
          <a:bodyPr wrap="square">
            <a:spAutoFit/>
          </a:bodyPr>
          <a:lstStyle/>
          <a:p>
            <a:pPr marL="34290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Code Rigidity : </a:t>
            </a:r>
            <a:r>
              <a:rPr lang="en-US" dirty="0">
                <a:latin typeface="Times New Roman" panose="02020603050405020304" pitchFamily="18" charset="0"/>
                <a:cs typeface="Times New Roman" panose="02020603050405020304" pitchFamily="18" charset="0"/>
              </a:rPr>
              <a:t>Small changes require modifying the entire system. One change breaks multiple unrelated parts, making the code inflexible and difficult to adapt to new requirements.</a:t>
            </a:r>
          </a:p>
          <a:p>
            <a:pPr marL="34290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Tight Coupling : </a:t>
            </a:r>
            <a:r>
              <a:rPr lang="en-US" dirty="0">
                <a:latin typeface="Times New Roman" panose="02020603050405020304" pitchFamily="18" charset="0"/>
                <a:cs typeface="Times New Roman" panose="02020603050405020304" pitchFamily="18" charset="0"/>
              </a:rPr>
              <a:t>Classes are tightly interconnected and depend heavily on each other. It becomes impossible to modify one class independently without affecting the entire system, reducing flexibility.</a:t>
            </a:r>
          </a:p>
          <a:p>
            <a:pPr marL="34290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Code Duplication: </a:t>
            </a:r>
            <a:r>
              <a:rPr lang="en-US" dirty="0">
                <a:latin typeface="Times New Roman" panose="02020603050405020304" pitchFamily="18" charset="0"/>
                <a:cs typeface="Times New Roman" panose="02020603050405020304" pitchFamily="18" charset="0"/>
              </a:rPr>
              <a:t>The same logic is written repeatedly across the codebase. This makes maintenance difficult, time-consuming, and increases the risk of inconsistent behavior throughout the application.</a:t>
            </a:r>
          </a:p>
          <a:p>
            <a:pPr marL="34290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Difficult Testing: </a:t>
            </a:r>
            <a:r>
              <a:rPr lang="en-US" dirty="0">
                <a:latin typeface="Times New Roman" panose="02020603050405020304" pitchFamily="18" charset="0"/>
                <a:cs typeface="Times New Roman" panose="02020603050405020304" pitchFamily="18" charset="0"/>
              </a:rPr>
              <a:t>Unit testing becomes nearly impossible due to hard dependencies. Mock objects cannot be created for isolation, making automated testing and quality assurance impractical.</a:t>
            </a:r>
          </a:p>
          <a:p>
            <a:pPr marL="34290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High Maintenance Cost : </a:t>
            </a:r>
            <a:r>
              <a:rPr lang="en-US" dirty="0">
                <a:latin typeface="Times New Roman" panose="02020603050405020304" pitchFamily="18" charset="0"/>
                <a:cs typeface="Times New Roman" panose="02020603050405020304" pitchFamily="18" charset="0"/>
              </a:rPr>
              <a:t>Bug fixing takes excessive time and resources. Development velocity slows down significantly, and adding new features becomes risky, increasing overall project costs and delays.</a:t>
            </a:r>
          </a:p>
        </p:txBody>
      </p:sp>
    </p:spTree>
    <p:extLst>
      <p:ext uri="{BB962C8B-B14F-4D97-AF65-F5344CB8AC3E}">
        <p14:creationId xmlns:p14="http://schemas.microsoft.com/office/powerpoint/2010/main" val="3501314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3" y="-74"/>
            <a:ext cx="5615934" cy="667795"/>
          </a:xfrm>
          <a:prstGeom prst="rect">
            <a:avLst/>
          </a:prstGeom>
          <a:noFill/>
        </p:spPr>
        <p:txBody>
          <a:bodyPr wrap="square" lIns="91440" tIns="45720" rIns="91440" bIns="45720" rtlCol="0" anchor="t">
            <a:spAutoFit/>
          </a:bodyPr>
          <a:lstStyle/>
          <a:p>
            <a:r>
              <a:rPr lang="en-US" sz="3600" b="1" dirty="0">
                <a:latin typeface="Sans"/>
              </a:rPr>
              <a:t>Creational Design Pattern </a:t>
            </a: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11</a:t>
            </a:fld>
            <a:endParaRPr lang="en-US" dirty="0"/>
          </a:p>
        </p:txBody>
      </p:sp>
      <p:sp>
        <p:nvSpPr>
          <p:cNvPr id="2" name="Rectangle 1">
            <a:extLst>
              <a:ext uri="{FF2B5EF4-FFF2-40B4-BE49-F238E27FC236}">
                <a16:creationId xmlns:a16="http://schemas.microsoft.com/office/drawing/2014/main" id="{CC371A4A-2A88-4D67-AA27-3847B1EC279C}"/>
              </a:ext>
            </a:extLst>
          </p:cNvPr>
          <p:cNvSpPr/>
          <p:nvPr/>
        </p:nvSpPr>
        <p:spPr>
          <a:xfrm>
            <a:off x="744071" y="1000489"/>
            <a:ext cx="10468412"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Creational Design Patterns deal with object creation mechanisms, trying to create objects in a manner suitable to the situation.</a:t>
            </a:r>
          </a:p>
        </p:txBody>
      </p:sp>
      <p:sp>
        <p:nvSpPr>
          <p:cNvPr id="8" name="Rectangle 7">
            <a:extLst>
              <a:ext uri="{FF2B5EF4-FFF2-40B4-BE49-F238E27FC236}">
                <a16:creationId xmlns:a16="http://schemas.microsoft.com/office/drawing/2014/main" id="{74E4B0E0-E1D3-4CCA-BDAF-95DFFDC15A4E}"/>
              </a:ext>
            </a:extLst>
          </p:cNvPr>
          <p:cNvSpPr/>
          <p:nvPr/>
        </p:nvSpPr>
        <p:spPr>
          <a:xfrm>
            <a:off x="744071" y="2136448"/>
            <a:ext cx="5585888"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How, when, and by whom should an object be created?</a:t>
            </a:r>
          </a:p>
        </p:txBody>
      </p:sp>
      <p:sp>
        <p:nvSpPr>
          <p:cNvPr id="10" name="Rectangle 9">
            <a:extLst>
              <a:ext uri="{FF2B5EF4-FFF2-40B4-BE49-F238E27FC236}">
                <a16:creationId xmlns:a16="http://schemas.microsoft.com/office/drawing/2014/main" id="{C9108677-E5D3-4BF1-87B8-8A08428B25A9}"/>
              </a:ext>
            </a:extLst>
          </p:cNvPr>
          <p:cNvSpPr/>
          <p:nvPr/>
        </p:nvSpPr>
        <p:spPr>
          <a:xfrm>
            <a:off x="744071" y="2987538"/>
            <a:ext cx="6096000" cy="1938992"/>
          </a:xfrm>
          <a:prstGeom prst="rect">
            <a:avLst/>
          </a:prstGeom>
        </p:spPr>
        <p:txBody>
          <a:bodyPr>
            <a:spAutoFit/>
          </a:bodyPr>
          <a:lstStyle/>
          <a:p>
            <a:r>
              <a:rPr lang="en-US" dirty="0">
                <a:latin typeface="Times New Roman" panose="02020603050405020304" pitchFamily="18" charset="0"/>
                <a:cs typeface="Times New Roman" panose="02020603050405020304" pitchFamily="18" charset="0"/>
              </a:rPr>
              <a:t>Types of Creational Design Patterns</a:t>
            </a:r>
          </a:p>
          <a:p>
            <a:endParaRPr lang="en-US" sz="105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Singleton</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Factory Method</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Abstract Factory</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Builder</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Prototype</a:t>
            </a:r>
          </a:p>
        </p:txBody>
      </p:sp>
      <p:pic>
        <p:nvPicPr>
          <p:cNvPr id="14" name="Picture 13">
            <a:extLst>
              <a:ext uri="{FF2B5EF4-FFF2-40B4-BE49-F238E27FC236}">
                <a16:creationId xmlns:a16="http://schemas.microsoft.com/office/drawing/2014/main" id="{E553D3B9-2DD9-47A4-9D13-ECD39318D51C}"/>
              </a:ext>
            </a:extLst>
          </p:cNvPr>
          <p:cNvPicPr>
            <a:picLocks noChangeAspect="1"/>
          </p:cNvPicPr>
          <p:nvPr/>
        </p:nvPicPr>
        <p:blipFill>
          <a:blip r:embed="rId3"/>
          <a:stretch>
            <a:fillRect/>
          </a:stretch>
        </p:blipFill>
        <p:spPr>
          <a:xfrm>
            <a:off x="6238787" y="1979588"/>
            <a:ext cx="5683864" cy="3159909"/>
          </a:xfrm>
          <a:prstGeom prst="rect">
            <a:avLst/>
          </a:prstGeom>
        </p:spPr>
      </p:pic>
      <p:sp>
        <p:nvSpPr>
          <p:cNvPr id="15" name="Rectangle 14">
            <a:extLst>
              <a:ext uri="{FF2B5EF4-FFF2-40B4-BE49-F238E27FC236}">
                <a16:creationId xmlns:a16="http://schemas.microsoft.com/office/drawing/2014/main" id="{5F7C00BB-B96F-471A-80E6-F263E02FA361}"/>
              </a:ext>
            </a:extLst>
          </p:cNvPr>
          <p:cNvSpPr/>
          <p:nvPr/>
        </p:nvSpPr>
        <p:spPr>
          <a:xfrm>
            <a:off x="10617170" y="2073585"/>
            <a:ext cx="1190625" cy="689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ooter Placeholder 5">
            <a:extLst>
              <a:ext uri="{FF2B5EF4-FFF2-40B4-BE49-F238E27FC236}">
                <a16:creationId xmlns:a16="http://schemas.microsoft.com/office/drawing/2014/main" id="{CC0EBADD-C91E-4226-9703-96818B275663}"/>
              </a:ext>
            </a:extLst>
          </p:cNvPr>
          <p:cNvSpPr>
            <a:spLocks noGrp="1"/>
          </p:cNvSpPr>
          <p:nvPr>
            <p:ph type="ftr" sz="quarter" idx="11"/>
          </p:nvPr>
        </p:nvSpPr>
        <p:spPr>
          <a:xfrm>
            <a:off x="3686185" y="6459785"/>
            <a:ext cx="4822804" cy="365125"/>
          </a:xfrm>
        </p:spPr>
        <p:txBody>
          <a:bodyPr/>
          <a:lstStyle/>
          <a:p>
            <a:r>
              <a:rPr lang="en-US" dirty="0"/>
              <a:t>Software design patterns</a:t>
            </a:r>
          </a:p>
        </p:txBody>
      </p:sp>
    </p:spTree>
    <p:extLst>
      <p:ext uri="{BB962C8B-B14F-4D97-AF65-F5344CB8AC3E}">
        <p14:creationId xmlns:p14="http://schemas.microsoft.com/office/powerpoint/2010/main" val="1481460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3" y="21390"/>
            <a:ext cx="5208104" cy="646331"/>
          </a:xfrm>
          <a:prstGeom prst="rect">
            <a:avLst/>
          </a:prstGeom>
          <a:noFill/>
        </p:spPr>
        <p:txBody>
          <a:bodyPr wrap="square" rtlCol="0">
            <a:spAutoFit/>
          </a:bodyPr>
          <a:lstStyle/>
          <a:p>
            <a:r>
              <a:rPr lang="en-US" sz="3600" b="1" dirty="0">
                <a:latin typeface="Sans"/>
              </a:rPr>
              <a:t>Singleton Pattern</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12</a:t>
            </a:fld>
            <a:endParaRPr lang="en-US" dirty="0"/>
          </a:p>
        </p:txBody>
      </p:sp>
      <p:sp>
        <p:nvSpPr>
          <p:cNvPr id="2" name="Rectangle 1">
            <a:extLst>
              <a:ext uri="{FF2B5EF4-FFF2-40B4-BE49-F238E27FC236}">
                <a16:creationId xmlns:a16="http://schemas.microsoft.com/office/drawing/2014/main" id="{10BFB187-D0C1-413B-B301-6514CD18EE7A}"/>
              </a:ext>
            </a:extLst>
          </p:cNvPr>
          <p:cNvSpPr/>
          <p:nvPr/>
        </p:nvSpPr>
        <p:spPr>
          <a:xfrm>
            <a:off x="622853" y="902820"/>
            <a:ext cx="11129082"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Singleton is a creational design pattern that lets you ensure that a class has only one instance, while providing a global access point to this instance.</a:t>
            </a:r>
          </a:p>
        </p:txBody>
      </p:sp>
      <p:sp>
        <p:nvSpPr>
          <p:cNvPr id="9" name="Rectangle 8">
            <a:extLst>
              <a:ext uri="{FF2B5EF4-FFF2-40B4-BE49-F238E27FC236}">
                <a16:creationId xmlns:a16="http://schemas.microsoft.com/office/drawing/2014/main" id="{E0DC0FFB-D0A0-48FB-9A84-8B5D53694E49}"/>
              </a:ext>
            </a:extLst>
          </p:cNvPr>
          <p:cNvSpPr/>
          <p:nvPr/>
        </p:nvSpPr>
        <p:spPr>
          <a:xfrm>
            <a:off x="638185" y="1681344"/>
            <a:ext cx="7870804" cy="205851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Benefits:</a:t>
            </a:r>
          </a:p>
          <a:p>
            <a:endParaRPr lang="en-US" sz="200" b="1"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Ensures only one instance of a class exists.</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 global access point to the instance.</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in efficient resource management.</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lazy initialization (object created only when needed).</a:t>
            </a:r>
          </a:p>
        </p:txBody>
      </p:sp>
      <p:sp>
        <p:nvSpPr>
          <p:cNvPr id="10" name="Rectangle 9">
            <a:extLst>
              <a:ext uri="{FF2B5EF4-FFF2-40B4-BE49-F238E27FC236}">
                <a16:creationId xmlns:a16="http://schemas.microsoft.com/office/drawing/2014/main" id="{D5443D3A-0DDD-42A6-857B-4D88A8447C14}"/>
              </a:ext>
            </a:extLst>
          </p:cNvPr>
          <p:cNvSpPr/>
          <p:nvPr/>
        </p:nvSpPr>
        <p:spPr>
          <a:xfrm>
            <a:off x="622853" y="3732571"/>
            <a:ext cx="7745643" cy="247401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When to use:</a:t>
            </a:r>
          </a:p>
          <a:p>
            <a:endParaRPr lang="en-US" sz="400" b="1"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Database Connection Manager – share a single DB connection.</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Logger  – centralized logging instance.</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Configuration Manager – global access to app settings.</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Caching – single cache instance for shared data.</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Thread Pool / Resource Manager – manage limited resources safely.</a:t>
            </a:r>
          </a:p>
        </p:txBody>
      </p:sp>
      <p:sp>
        <p:nvSpPr>
          <p:cNvPr id="11" name="Footer Placeholder 5">
            <a:extLst>
              <a:ext uri="{FF2B5EF4-FFF2-40B4-BE49-F238E27FC236}">
                <a16:creationId xmlns:a16="http://schemas.microsoft.com/office/drawing/2014/main" id="{435A7173-1C2D-454A-8749-9542BBE505EF}"/>
              </a:ext>
            </a:extLst>
          </p:cNvPr>
          <p:cNvSpPr>
            <a:spLocks noGrp="1"/>
          </p:cNvSpPr>
          <p:nvPr>
            <p:ph type="ftr" sz="quarter" idx="11"/>
          </p:nvPr>
        </p:nvSpPr>
        <p:spPr>
          <a:xfrm>
            <a:off x="3686185" y="6459785"/>
            <a:ext cx="4822804" cy="365125"/>
          </a:xfrm>
        </p:spPr>
        <p:txBody>
          <a:bodyPr/>
          <a:lstStyle/>
          <a:p>
            <a:r>
              <a:rPr lang="en-US" dirty="0"/>
              <a:t>Software design patterns</a:t>
            </a:r>
          </a:p>
        </p:txBody>
      </p:sp>
    </p:spTree>
    <p:extLst>
      <p:ext uri="{BB962C8B-B14F-4D97-AF65-F5344CB8AC3E}">
        <p14:creationId xmlns:p14="http://schemas.microsoft.com/office/powerpoint/2010/main" val="2377209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3" y="21390"/>
            <a:ext cx="5208104" cy="646331"/>
          </a:xfrm>
          <a:prstGeom prst="rect">
            <a:avLst/>
          </a:prstGeom>
          <a:noFill/>
        </p:spPr>
        <p:txBody>
          <a:bodyPr wrap="square" rtlCol="0">
            <a:spAutoFit/>
          </a:bodyPr>
          <a:lstStyle/>
          <a:p>
            <a:r>
              <a:rPr lang="en-US" sz="3600" b="1" dirty="0">
                <a:latin typeface="Sans"/>
              </a:rPr>
              <a:t>Singleton Pattern</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6" name="Footer Placeholder 5">
            <a:extLst>
              <a:ext uri="{FF2B5EF4-FFF2-40B4-BE49-F238E27FC236}">
                <a16:creationId xmlns:a16="http://schemas.microsoft.com/office/drawing/2014/main" id="{F8349373-E7C7-4D11-8CBC-05A1FEB20459}"/>
              </a:ext>
            </a:extLst>
          </p:cNvPr>
          <p:cNvSpPr>
            <a:spLocks noGrp="1"/>
          </p:cNvSpPr>
          <p:nvPr>
            <p:ph type="ftr" sz="quarter" idx="11"/>
          </p:nvPr>
        </p:nvSpPr>
        <p:spPr/>
        <p:txBody>
          <a:bodyPr/>
          <a:lstStyle/>
          <a:p>
            <a:r>
              <a:rPr lang="en-US" dirty="0"/>
              <a:t>Software design patterns</a:t>
            </a:r>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13</a:t>
            </a:fld>
            <a:endParaRPr lang="en-US" dirty="0"/>
          </a:p>
        </p:txBody>
      </p:sp>
      <p:pic>
        <p:nvPicPr>
          <p:cNvPr id="11" name="Picture 10">
            <a:extLst>
              <a:ext uri="{FF2B5EF4-FFF2-40B4-BE49-F238E27FC236}">
                <a16:creationId xmlns:a16="http://schemas.microsoft.com/office/drawing/2014/main" id="{4B17773A-B85E-43A4-AA7D-4E398FF7B587}"/>
              </a:ext>
            </a:extLst>
          </p:cNvPr>
          <p:cNvPicPr>
            <a:picLocks noChangeAspect="1"/>
          </p:cNvPicPr>
          <p:nvPr/>
        </p:nvPicPr>
        <p:blipFill>
          <a:blip r:embed="rId3"/>
          <a:stretch>
            <a:fillRect/>
          </a:stretch>
        </p:blipFill>
        <p:spPr>
          <a:xfrm>
            <a:off x="3823335" y="710503"/>
            <a:ext cx="3752882" cy="5143105"/>
          </a:xfrm>
          <a:prstGeom prst="rect">
            <a:avLst/>
          </a:prstGeom>
        </p:spPr>
      </p:pic>
      <p:sp>
        <p:nvSpPr>
          <p:cNvPr id="13" name="TextBox 12">
            <a:extLst>
              <a:ext uri="{FF2B5EF4-FFF2-40B4-BE49-F238E27FC236}">
                <a16:creationId xmlns:a16="http://schemas.microsoft.com/office/drawing/2014/main" id="{7066AD31-F7D0-4429-86B8-3D1701835D29}"/>
              </a:ext>
            </a:extLst>
          </p:cNvPr>
          <p:cNvSpPr txBox="1"/>
          <p:nvPr/>
        </p:nvSpPr>
        <p:spPr>
          <a:xfrm>
            <a:off x="4036974" y="5896390"/>
            <a:ext cx="358796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Singleton Pattern UML Diagram</a:t>
            </a:r>
          </a:p>
        </p:txBody>
      </p:sp>
    </p:spTree>
    <p:extLst>
      <p:ext uri="{BB962C8B-B14F-4D97-AF65-F5344CB8AC3E}">
        <p14:creationId xmlns:p14="http://schemas.microsoft.com/office/powerpoint/2010/main" val="2156536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3" y="21390"/>
            <a:ext cx="5208104" cy="646331"/>
          </a:xfrm>
          <a:prstGeom prst="rect">
            <a:avLst/>
          </a:prstGeom>
          <a:noFill/>
        </p:spPr>
        <p:txBody>
          <a:bodyPr wrap="square" rtlCol="0">
            <a:spAutoFit/>
          </a:bodyPr>
          <a:lstStyle/>
          <a:p>
            <a:r>
              <a:rPr lang="en-US" sz="3600" b="1" dirty="0">
                <a:latin typeface="Sans"/>
              </a:rPr>
              <a:t>Factory Pattern</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14</a:t>
            </a:fld>
            <a:endParaRPr lang="en-US" dirty="0"/>
          </a:p>
        </p:txBody>
      </p:sp>
      <p:sp>
        <p:nvSpPr>
          <p:cNvPr id="9" name="Rectangle 8">
            <a:extLst>
              <a:ext uri="{FF2B5EF4-FFF2-40B4-BE49-F238E27FC236}">
                <a16:creationId xmlns:a16="http://schemas.microsoft.com/office/drawing/2014/main" id="{B4BF7F44-7F48-4284-B337-1E10556A3C2D}"/>
              </a:ext>
            </a:extLst>
          </p:cNvPr>
          <p:cNvSpPr/>
          <p:nvPr/>
        </p:nvSpPr>
        <p:spPr>
          <a:xfrm>
            <a:off x="622853" y="782441"/>
            <a:ext cx="10853496" cy="1015663"/>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Factory Pattern creates objects without exposing the creation logic to the client. The client asks the factory for an object, and the factory decides which class to instantiate based on the given input. It is also known as Virtual Constructor.</a:t>
            </a:r>
            <a:endParaRPr lang="en-US" dirty="0">
              <a:latin typeface="Times New Roman" panose="02020603050405020304" pitchFamily="18" charset="0"/>
              <a:cs typeface="Times New Roman" panose="02020603050405020304" pitchFamily="18" charset="0"/>
            </a:endParaRPr>
          </a:p>
        </p:txBody>
      </p:sp>
      <p:sp>
        <p:nvSpPr>
          <p:cNvPr id="10" name="Footer Placeholder 5">
            <a:extLst>
              <a:ext uri="{FF2B5EF4-FFF2-40B4-BE49-F238E27FC236}">
                <a16:creationId xmlns:a16="http://schemas.microsoft.com/office/drawing/2014/main" id="{7FA8FB97-B8AD-422A-9ACB-FAD1EE26873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11" name="TextBox 10">
            <a:extLst>
              <a:ext uri="{FF2B5EF4-FFF2-40B4-BE49-F238E27FC236}">
                <a16:creationId xmlns:a16="http://schemas.microsoft.com/office/drawing/2014/main" id="{3AC322F0-9EB2-4ED0-B67A-7A4EE7B294B5}"/>
              </a:ext>
            </a:extLst>
          </p:cNvPr>
          <p:cNvSpPr txBox="1"/>
          <p:nvPr/>
        </p:nvSpPr>
        <p:spPr>
          <a:xfrm>
            <a:off x="622853" y="3413471"/>
            <a:ext cx="8905427" cy="2862322"/>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Benefits: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Allows factory to decide which object to create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Promotes loose coupling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Makes code easier to extend and maintain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Centralizes object creation logic in one place</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When to use:</a:t>
            </a:r>
          </a:p>
          <a:p>
            <a:pPr marL="285750" indent="-28575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When a class does not know which type of object it need</a:t>
            </a:r>
          </a:p>
          <a:p>
            <a:pPr marL="285750" indent="-28575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When object creation logic should be centralized</a:t>
            </a:r>
          </a:p>
          <a:p>
            <a:pPr marL="285750" indent="-28575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When you want to follow the Open/Closed Principle</a:t>
            </a:r>
          </a:p>
        </p:txBody>
      </p:sp>
      <p:sp>
        <p:nvSpPr>
          <p:cNvPr id="8" name="Rectangle 2">
            <a:extLst>
              <a:ext uri="{FF2B5EF4-FFF2-40B4-BE49-F238E27FC236}">
                <a16:creationId xmlns:a16="http://schemas.microsoft.com/office/drawing/2014/main" id="{0B0F4182-57C7-48FE-82D1-2546D15EE1F0}"/>
              </a:ext>
            </a:extLst>
          </p:cNvPr>
          <p:cNvSpPr>
            <a:spLocks noChangeArrowheads="1"/>
          </p:cNvSpPr>
          <p:nvPr/>
        </p:nvSpPr>
        <p:spPr bwMode="auto">
          <a:xfrm>
            <a:off x="622853" y="1912824"/>
            <a:ext cx="1098605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Instead of calling constructors directly (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new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ClassName</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a factory method that returns the appropriate object based on input parameters or conditions.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b="1" dirty="0">
                <a:latin typeface="Times New Roman" panose="02020603050405020304" pitchFamily="18" charset="0"/>
                <a:cs typeface="Times New Roman" panose="02020603050405020304" pitchFamily="18" charset="0"/>
              </a:rPr>
              <a:t>                                   Client → Factory → Product Interface → Concrete Products</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8755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15</a:t>
            </a:fld>
            <a:endParaRPr lang="en-US" dirty="0"/>
          </a:p>
        </p:txBody>
      </p:sp>
      <p:sp>
        <p:nvSpPr>
          <p:cNvPr id="9" name="TextBox 8">
            <a:extLst>
              <a:ext uri="{FF2B5EF4-FFF2-40B4-BE49-F238E27FC236}">
                <a16:creationId xmlns:a16="http://schemas.microsoft.com/office/drawing/2014/main" id="{66E8E4B4-2FCB-4968-98A5-AA10991910E6}"/>
              </a:ext>
            </a:extLst>
          </p:cNvPr>
          <p:cNvSpPr txBox="1"/>
          <p:nvPr/>
        </p:nvSpPr>
        <p:spPr>
          <a:xfrm>
            <a:off x="4436076" y="5851725"/>
            <a:ext cx="3475471"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Factory Pattern UML Diagram</a:t>
            </a:r>
          </a:p>
        </p:txBody>
      </p:sp>
      <p:sp>
        <p:nvSpPr>
          <p:cNvPr id="10" name="Footer Placeholder 5">
            <a:extLst>
              <a:ext uri="{FF2B5EF4-FFF2-40B4-BE49-F238E27FC236}">
                <a16:creationId xmlns:a16="http://schemas.microsoft.com/office/drawing/2014/main" id="{9EEBB215-914F-456C-980E-D7099C3A22D8}"/>
              </a:ext>
            </a:extLst>
          </p:cNvPr>
          <p:cNvSpPr>
            <a:spLocks noGrp="1"/>
          </p:cNvSpPr>
          <p:nvPr>
            <p:ph type="ftr" sz="quarter" idx="11"/>
          </p:nvPr>
        </p:nvSpPr>
        <p:spPr>
          <a:xfrm>
            <a:off x="3686185" y="6459785"/>
            <a:ext cx="4822804" cy="365125"/>
          </a:xfrm>
        </p:spPr>
        <p:txBody>
          <a:bodyPr/>
          <a:lstStyle/>
          <a:p>
            <a:r>
              <a:rPr lang="en-US" dirty="0"/>
              <a:t>Software design patterns</a:t>
            </a:r>
          </a:p>
        </p:txBody>
      </p:sp>
      <p:pic>
        <p:nvPicPr>
          <p:cNvPr id="4" name="Picture 3">
            <a:extLst>
              <a:ext uri="{FF2B5EF4-FFF2-40B4-BE49-F238E27FC236}">
                <a16:creationId xmlns:a16="http://schemas.microsoft.com/office/drawing/2014/main" id="{8D7C295F-ACBA-4A0F-AFA2-5AFCD1BA626E}"/>
              </a:ext>
            </a:extLst>
          </p:cNvPr>
          <p:cNvPicPr>
            <a:picLocks noChangeAspect="1"/>
          </p:cNvPicPr>
          <p:nvPr/>
        </p:nvPicPr>
        <p:blipFill>
          <a:blip r:embed="rId3"/>
          <a:stretch>
            <a:fillRect/>
          </a:stretch>
        </p:blipFill>
        <p:spPr>
          <a:xfrm>
            <a:off x="3874015" y="802474"/>
            <a:ext cx="4443970" cy="4914498"/>
          </a:xfrm>
          <a:prstGeom prst="rect">
            <a:avLst/>
          </a:prstGeom>
        </p:spPr>
      </p:pic>
      <p:sp>
        <p:nvSpPr>
          <p:cNvPr id="11" name="TextBox 10">
            <a:extLst>
              <a:ext uri="{FF2B5EF4-FFF2-40B4-BE49-F238E27FC236}">
                <a16:creationId xmlns:a16="http://schemas.microsoft.com/office/drawing/2014/main" id="{ACC77DC4-95BB-4A38-945F-D40FCB7D834B}"/>
              </a:ext>
            </a:extLst>
          </p:cNvPr>
          <p:cNvSpPr txBox="1"/>
          <p:nvPr/>
        </p:nvSpPr>
        <p:spPr>
          <a:xfrm>
            <a:off x="622853" y="21390"/>
            <a:ext cx="5208104" cy="646331"/>
          </a:xfrm>
          <a:prstGeom prst="rect">
            <a:avLst/>
          </a:prstGeom>
          <a:noFill/>
        </p:spPr>
        <p:txBody>
          <a:bodyPr wrap="square" rtlCol="0">
            <a:spAutoFit/>
          </a:bodyPr>
          <a:lstStyle/>
          <a:p>
            <a:r>
              <a:rPr lang="en-US" sz="3600" b="1" dirty="0">
                <a:latin typeface="Sans"/>
              </a:rPr>
              <a:t>Factory Pattern</a:t>
            </a:r>
            <a:endParaRPr lang="en-US" b="1" dirty="0">
              <a:latin typeface="Sans"/>
            </a:endParaRPr>
          </a:p>
        </p:txBody>
      </p:sp>
    </p:spTree>
    <p:extLst>
      <p:ext uri="{BB962C8B-B14F-4D97-AF65-F5344CB8AC3E}">
        <p14:creationId xmlns:p14="http://schemas.microsoft.com/office/powerpoint/2010/main" val="82098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3" y="21390"/>
            <a:ext cx="5208104" cy="646331"/>
          </a:xfrm>
          <a:prstGeom prst="rect">
            <a:avLst/>
          </a:prstGeom>
          <a:noFill/>
        </p:spPr>
        <p:txBody>
          <a:bodyPr wrap="square" rtlCol="0">
            <a:spAutoFit/>
          </a:bodyPr>
          <a:lstStyle/>
          <a:p>
            <a:r>
              <a:rPr lang="en-US" sz="3600" b="1" dirty="0">
                <a:latin typeface="Sans"/>
              </a:rPr>
              <a:t>Abstract Factory Pattern</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16</a:t>
            </a:fld>
            <a:endParaRPr lang="en-US" dirty="0"/>
          </a:p>
        </p:txBody>
      </p:sp>
      <p:sp>
        <p:nvSpPr>
          <p:cNvPr id="2" name="Rectangle 1">
            <a:extLst>
              <a:ext uri="{FF2B5EF4-FFF2-40B4-BE49-F238E27FC236}">
                <a16:creationId xmlns:a16="http://schemas.microsoft.com/office/drawing/2014/main" id="{469A6B47-88E8-4D99-AC03-8EB5C359DAB2}"/>
              </a:ext>
            </a:extLst>
          </p:cNvPr>
          <p:cNvSpPr/>
          <p:nvPr/>
        </p:nvSpPr>
        <p:spPr>
          <a:xfrm>
            <a:off x="622853" y="962431"/>
            <a:ext cx="11125451"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It is  creational pattern that creates families of related objects through a common factory interface. The client receives a complete set of compatible products without knowing their concrete implementations</a:t>
            </a:r>
          </a:p>
        </p:txBody>
      </p:sp>
      <p:sp>
        <p:nvSpPr>
          <p:cNvPr id="8" name="Rectangle 7">
            <a:extLst>
              <a:ext uri="{FF2B5EF4-FFF2-40B4-BE49-F238E27FC236}">
                <a16:creationId xmlns:a16="http://schemas.microsoft.com/office/drawing/2014/main" id="{9A1DA526-9990-4D1E-B350-20E8A4971357}"/>
              </a:ext>
            </a:extLst>
          </p:cNvPr>
          <p:cNvSpPr/>
          <p:nvPr/>
        </p:nvSpPr>
        <p:spPr>
          <a:xfrm>
            <a:off x="663811" y="3294950"/>
            <a:ext cx="10864378" cy="2403863"/>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Key Components</a:t>
            </a:r>
          </a:p>
          <a:p>
            <a:pPr marL="34290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Abstract Factory : Interface for creating families of related objects </a:t>
            </a:r>
          </a:p>
          <a:p>
            <a:pPr marL="34290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Concrete Factory: Implements abstract factory to create specific product families </a:t>
            </a:r>
          </a:p>
          <a:p>
            <a:pPr marL="34290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Abstract Product: Interface for related products that work together </a:t>
            </a:r>
          </a:p>
          <a:p>
            <a:pPr marL="34290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Concrete Product: Actual implementation of a product in a family </a:t>
            </a:r>
          </a:p>
          <a:p>
            <a:pPr marL="34290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Client: Uses abstract interfaces without knowing concrete implementations</a:t>
            </a:r>
          </a:p>
        </p:txBody>
      </p:sp>
      <p:sp>
        <p:nvSpPr>
          <p:cNvPr id="10" name="Footer Placeholder 5">
            <a:extLst>
              <a:ext uri="{FF2B5EF4-FFF2-40B4-BE49-F238E27FC236}">
                <a16:creationId xmlns:a16="http://schemas.microsoft.com/office/drawing/2014/main" id="{B5A6ACE7-F69C-46C0-84D9-D825F5D9DE7F}"/>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11" name="TextBox 10">
            <a:extLst>
              <a:ext uri="{FF2B5EF4-FFF2-40B4-BE49-F238E27FC236}">
                <a16:creationId xmlns:a16="http://schemas.microsoft.com/office/drawing/2014/main" id="{F7084EC7-1890-44B5-9BF7-F7C82BF22095}"/>
              </a:ext>
            </a:extLst>
          </p:cNvPr>
          <p:cNvSpPr txBox="1"/>
          <p:nvPr/>
        </p:nvSpPr>
        <p:spPr>
          <a:xfrm>
            <a:off x="622853" y="1727041"/>
            <a:ext cx="10970718" cy="1200329"/>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Instead of creating individual objects, Abstract Factory creates entire families of related objects that work together. It ensures all created objects belong to the same family and are compatible with each other.</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Client → Abstract Factory Interface → Concrete Factories → Concrete Products</a:t>
            </a:r>
          </a:p>
        </p:txBody>
      </p:sp>
    </p:spTree>
    <p:extLst>
      <p:ext uri="{BB962C8B-B14F-4D97-AF65-F5344CB8AC3E}">
        <p14:creationId xmlns:p14="http://schemas.microsoft.com/office/powerpoint/2010/main" val="1069183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3" y="21390"/>
            <a:ext cx="5208104" cy="646331"/>
          </a:xfrm>
          <a:prstGeom prst="rect">
            <a:avLst/>
          </a:prstGeom>
          <a:noFill/>
        </p:spPr>
        <p:txBody>
          <a:bodyPr wrap="square" rtlCol="0">
            <a:spAutoFit/>
          </a:bodyPr>
          <a:lstStyle/>
          <a:p>
            <a:r>
              <a:rPr lang="en-US" sz="3600" b="1" dirty="0">
                <a:latin typeface="Sans"/>
              </a:rPr>
              <a:t>Abstract Factory Pattern</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17</a:t>
            </a:fld>
            <a:endParaRPr lang="en-US" dirty="0"/>
          </a:p>
        </p:txBody>
      </p:sp>
      <p:sp>
        <p:nvSpPr>
          <p:cNvPr id="10" name="Footer Placeholder 5">
            <a:extLst>
              <a:ext uri="{FF2B5EF4-FFF2-40B4-BE49-F238E27FC236}">
                <a16:creationId xmlns:a16="http://schemas.microsoft.com/office/drawing/2014/main" id="{B5A6ACE7-F69C-46C0-84D9-D825F5D9DE7F}"/>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11" name="TextBox 10">
            <a:extLst>
              <a:ext uri="{FF2B5EF4-FFF2-40B4-BE49-F238E27FC236}">
                <a16:creationId xmlns:a16="http://schemas.microsoft.com/office/drawing/2014/main" id="{C0B997FA-9AC5-4004-9901-5596F16BAD25}"/>
              </a:ext>
            </a:extLst>
          </p:cNvPr>
          <p:cNvSpPr txBox="1"/>
          <p:nvPr/>
        </p:nvSpPr>
        <p:spPr>
          <a:xfrm>
            <a:off x="622853" y="867421"/>
            <a:ext cx="10321363" cy="2566344"/>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Benefits: </a:t>
            </a:r>
          </a:p>
          <a:p>
            <a:endParaRPr lang="en-US" sz="600"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Ensures products from the same family work together consistently</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Isolates concrete classes from client, promoting loose coupling</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Makes switching product families easy without changing client code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Maintains consistency among related products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Follows Open/Closed Principle - easy to add new families</a:t>
            </a:r>
          </a:p>
        </p:txBody>
      </p:sp>
      <p:sp>
        <p:nvSpPr>
          <p:cNvPr id="9" name="Rectangle 1">
            <a:extLst>
              <a:ext uri="{FF2B5EF4-FFF2-40B4-BE49-F238E27FC236}">
                <a16:creationId xmlns:a16="http://schemas.microsoft.com/office/drawing/2014/main" id="{1FF2EE7F-F574-4334-A7D4-0B235380D60F}"/>
              </a:ext>
            </a:extLst>
          </p:cNvPr>
          <p:cNvSpPr>
            <a:spLocks noChangeArrowheads="1"/>
          </p:cNvSpPr>
          <p:nvPr/>
        </p:nvSpPr>
        <p:spPr bwMode="auto">
          <a:xfrm>
            <a:off x="656012" y="3495664"/>
            <a:ext cx="9900458" cy="256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latin typeface="Times New Roman" panose="02020603050405020304" pitchFamily="18" charset="0"/>
                <a:cs typeface="Times New Roman" panose="02020603050405020304" pitchFamily="18" charset="0"/>
              </a:rPr>
              <a:t>When to use</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System needs independence from product creation and composition</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System must work with multiple families of related products</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Related products must be used together (enforcement required)</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Need to provide a product library without exposing implementations</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Need to switch between different product families at runtime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1164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3" y="21390"/>
            <a:ext cx="5208104" cy="646331"/>
          </a:xfrm>
          <a:prstGeom prst="rect">
            <a:avLst/>
          </a:prstGeom>
          <a:noFill/>
        </p:spPr>
        <p:txBody>
          <a:bodyPr wrap="square" rtlCol="0">
            <a:spAutoFit/>
          </a:bodyPr>
          <a:lstStyle/>
          <a:p>
            <a:r>
              <a:rPr lang="en-US" sz="3600" b="1" dirty="0">
                <a:latin typeface="Sans"/>
              </a:rPr>
              <a:t>Abstract Factory Pattern</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18</a:t>
            </a:fld>
            <a:endParaRPr lang="en-US" dirty="0"/>
          </a:p>
        </p:txBody>
      </p:sp>
      <p:pic>
        <p:nvPicPr>
          <p:cNvPr id="8" name="Picture 7">
            <a:extLst>
              <a:ext uri="{FF2B5EF4-FFF2-40B4-BE49-F238E27FC236}">
                <a16:creationId xmlns:a16="http://schemas.microsoft.com/office/drawing/2014/main" id="{18CB249C-B7DE-4713-8C3B-B5F84991B1E3}"/>
              </a:ext>
            </a:extLst>
          </p:cNvPr>
          <p:cNvPicPr>
            <a:picLocks noChangeAspect="1"/>
          </p:cNvPicPr>
          <p:nvPr/>
        </p:nvPicPr>
        <p:blipFill>
          <a:blip r:embed="rId3"/>
          <a:stretch>
            <a:fillRect/>
          </a:stretch>
        </p:blipFill>
        <p:spPr>
          <a:xfrm>
            <a:off x="243068" y="710503"/>
            <a:ext cx="11705863" cy="5013393"/>
          </a:xfrm>
          <a:prstGeom prst="rect">
            <a:avLst/>
          </a:prstGeom>
        </p:spPr>
      </p:pic>
      <p:sp>
        <p:nvSpPr>
          <p:cNvPr id="10" name="TextBox 9">
            <a:extLst>
              <a:ext uri="{FF2B5EF4-FFF2-40B4-BE49-F238E27FC236}">
                <a16:creationId xmlns:a16="http://schemas.microsoft.com/office/drawing/2014/main" id="{DD1EB0DE-CF0E-4399-83F9-123EDB9C8861}"/>
              </a:ext>
            </a:extLst>
          </p:cNvPr>
          <p:cNvSpPr txBox="1"/>
          <p:nvPr/>
        </p:nvSpPr>
        <p:spPr>
          <a:xfrm>
            <a:off x="4408033" y="5896209"/>
            <a:ext cx="3375931"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Factory Pattern UML Diagram</a:t>
            </a:r>
          </a:p>
        </p:txBody>
      </p:sp>
      <p:sp>
        <p:nvSpPr>
          <p:cNvPr id="11" name="Footer Placeholder 5">
            <a:extLst>
              <a:ext uri="{FF2B5EF4-FFF2-40B4-BE49-F238E27FC236}">
                <a16:creationId xmlns:a16="http://schemas.microsoft.com/office/drawing/2014/main" id="{90EBCF75-1287-4C5D-9B57-B723EC465E66}"/>
              </a:ext>
            </a:extLst>
          </p:cNvPr>
          <p:cNvSpPr>
            <a:spLocks noGrp="1"/>
          </p:cNvSpPr>
          <p:nvPr>
            <p:ph type="ftr" sz="quarter" idx="11"/>
          </p:nvPr>
        </p:nvSpPr>
        <p:spPr>
          <a:xfrm>
            <a:off x="3686185" y="6459785"/>
            <a:ext cx="4822804" cy="365125"/>
          </a:xfrm>
        </p:spPr>
        <p:txBody>
          <a:bodyPr/>
          <a:lstStyle/>
          <a:p>
            <a:r>
              <a:rPr lang="en-US" dirty="0"/>
              <a:t>Software design patterns</a:t>
            </a:r>
          </a:p>
        </p:txBody>
      </p:sp>
    </p:spTree>
    <p:extLst>
      <p:ext uri="{BB962C8B-B14F-4D97-AF65-F5344CB8AC3E}">
        <p14:creationId xmlns:p14="http://schemas.microsoft.com/office/powerpoint/2010/main" val="21487444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3" y="21390"/>
            <a:ext cx="5208104" cy="646331"/>
          </a:xfrm>
          <a:prstGeom prst="rect">
            <a:avLst/>
          </a:prstGeom>
          <a:noFill/>
        </p:spPr>
        <p:txBody>
          <a:bodyPr wrap="square" rtlCol="0">
            <a:spAutoFit/>
          </a:bodyPr>
          <a:lstStyle/>
          <a:p>
            <a:r>
              <a:rPr lang="en-US" sz="3600" b="1" dirty="0">
                <a:latin typeface="Sans"/>
              </a:rPr>
              <a:t>Prototype Pattern</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19</a:t>
            </a:fld>
            <a:endParaRPr lang="en-US" dirty="0"/>
          </a:p>
        </p:txBody>
      </p:sp>
      <p:sp>
        <p:nvSpPr>
          <p:cNvPr id="2" name="Rectangle 1">
            <a:extLst>
              <a:ext uri="{FF2B5EF4-FFF2-40B4-BE49-F238E27FC236}">
                <a16:creationId xmlns:a16="http://schemas.microsoft.com/office/drawing/2014/main" id="{984F7403-4D6F-43DD-83BA-4CECE2B04D9C}"/>
              </a:ext>
            </a:extLst>
          </p:cNvPr>
          <p:cNvSpPr/>
          <p:nvPr/>
        </p:nvSpPr>
        <p:spPr>
          <a:xfrm>
            <a:off x="646942" y="919354"/>
            <a:ext cx="10415505"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Prototype pattern allows us to create new objects by copying existing objects (prototypes) rather than creating them from scratch. It's like using a photocopy machine instead of writing documents by hand!</a:t>
            </a:r>
          </a:p>
        </p:txBody>
      </p:sp>
      <p:sp>
        <p:nvSpPr>
          <p:cNvPr id="8" name="Rectangle 7">
            <a:extLst>
              <a:ext uri="{FF2B5EF4-FFF2-40B4-BE49-F238E27FC236}">
                <a16:creationId xmlns:a16="http://schemas.microsoft.com/office/drawing/2014/main" id="{6ACCC168-F807-43D4-A85E-0674AC974578}"/>
              </a:ext>
            </a:extLst>
          </p:cNvPr>
          <p:cNvSpPr/>
          <p:nvPr/>
        </p:nvSpPr>
        <p:spPr>
          <a:xfrm>
            <a:off x="595092" y="3663424"/>
            <a:ext cx="8810823" cy="221599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When to use:</a:t>
            </a:r>
          </a:p>
          <a:p>
            <a:endParaRPr lang="en-US" sz="12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Object creation is expensive (database queries, file loading, network calls)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Need many objects with similar configurations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Want to avoid </a:t>
            </a:r>
            <a:r>
              <a:rPr lang="en-US" dirty="0" err="1">
                <a:latin typeface="Times New Roman" panose="02020603050405020304" pitchFamily="18" charset="0"/>
                <a:cs typeface="Times New Roman" panose="02020603050405020304" pitchFamily="18" charset="0"/>
              </a:rPr>
              <a:t>subclassing</a:t>
            </a:r>
            <a:r>
              <a:rPr lang="en-US" dirty="0">
                <a:latin typeface="Times New Roman" panose="02020603050405020304" pitchFamily="18" charset="0"/>
                <a:cs typeface="Times New Roman" panose="02020603050405020304" pitchFamily="18" charset="0"/>
              </a:rPr>
              <a:t> just for object creation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Object initialization is complex and time-consuming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Need to create objects whose type is unknown at compile time</a:t>
            </a:r>
          </a:p>
          <a:p>
            <a:endParaRPr lang="en-US"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EBF06F47-3E3F-4948-A7E4-E6C9F75F9E1B}"/>
              </a:ext>
            </a:extLst>
          </p:cNvPr>
          <p:cNvSpPr/>
          <p:nvPr/>
        </p:nvSpPr>
        <p:spPr>
          <a:xfrm>
            <a:off x="595092" y="1817318"/>
            <a:ext cx="9823186" cy="193899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Benefits:</a:t>
            </a:r>
          </a:p>
          <a:p>
            <a:endParaRPr lang="en-US" sz="9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Fast object creation by cloning instead of creating from scratch</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Avoids complex initialization by copying already configured objects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Reduces </a:t>
            </a:r>
            <a:r>
              <a:rPr lang="en-US" dirty="0" err="1">
                <a:latin typeface="Times New Roman" panose="02020603050405020304" pitchFamily="18" charset="0"/>
                <a:cs typeface="Times New Roman" panose="02020603050405020304" pitchFamily="18" charset="0"/>
              </a:rPr>
              <a:t>subclassing</a:t>
            </a:r>
            <a:r>
              <a:rPr lang="en-US" dirty="0">
                <a:latin typeface="Times New Roman" panose="02020603050405020304" pitchFamily="18" charset="0"/>
                <a:cs typeface="Times New Roman" panose="02020603050405020304" pitchFamily="18" charset="0"/>
              </a:rPr>
              <a:t> by eliminating need for factory hierarchies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Allows dynamic configuration at runtime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Hides complexity from client code</a:t>
            </a:r>
          </a:p>
        </p:txBody>
      </p:sp>
      <p:sp>
        <p:nvSpPr>
          <p:cNvPr id="11" name="Footer Placeholder 5">
            <a:extLst>
              <a:ext uri="{FF2B5EF4-FFF2-40B4-BE49-F238E27FC236}">
                <a16:creationId xmlns:a16="http://schemas.microsoft.com/office/drawing/2014/main" id="{6BBDA31A-424D-4BAB-8583-30130851B4CC}"/>
              </a:ext>
            </a:extLst>
          </p:cNvPr>
          <p:cNvSpPr>
            <a:spLocks noGrp="1"/>
          </p:cNvSpPr>
          <p:nvPr>
            <p:ph type="ftr" sz="quarter" idx="11"/>
          </p:nvPr>
        </p:nvSpPr>
        <p:spPr>
          <a:xfrm>
            <a:off x="3686185" y="6459785"/>
            <a:ext cx="4822804" cy="365125"/>
          </a:xfrm>
        </p:spPr>
        <p:txBody>
          <a:bodyPr/>
          <a:lstStyle/>
          <a:p>
            <a:r>
              <a:rPr lang="en-US" dirty="0"/>
              <a:t>Software design patterns</a:t>
            </a:r>
          </a:p>
        </p:txBody>
      </p:sp>
    </p:spTree>
    <p:extLst>
      <p:ext uri="{BB962C8B-B14F-4D97-AF65-F5344CB8AC3E}">
        <p14:creationId xmlns:p14="http://schemas.microsoft.com/office/powerpoint/2010/main" val="1607348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3" y="21390"/>
            <a:ext cx="5208104" cy="646331"/>
          </a:xfrm>
          <a:prstGeom prst="rect">
            <a:avLst/>
          </a:prstGeom>
          <a:noFill/>
        </p:spPr>
        <p:txBody>
          <a:bodyPr wrap="square" rtlCol="0">
            <a:spAutoFit/>
          </a:bodyPr>
          <a:lstStyle/>
          <a:p>
            <a:r>
              <a:rPr lang="en-US" sz="3600" b="1" dirty="0">
                <a:latin typeface="Sans"/>
              </a:rPr>
              <a:t>Prototype Pattern</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20</a:t>
            </a:fld>
            <a:endParaRPr lang="en-US" dirty="0"/>
          </a:p>
        </p:txBody>
      </p:sp>
      <p:sp>
        <p:nvSpPr>
          <p:cNvPr id="13" name="TextBox 12">
            <a:extLst>
              <a:ext uri="{FF2B5EF4-FFF2-40B4-BE49-F238E27FC236}">
                <a16:creationId xmlns:a16="http://schemas.microsoft.com/office/drawing/2014/main" id="{996D52D0-324F-4A96-A551-A9B823B8BE57}"/>
              </a:ext>
            </a:extLst>
          </p:cNvPr>
          <p:cNvSpPr txBox="1"/>
          <p:nvPr/>
        </p:nvSpPr>
        <p:spPr>
          <a:xfrm>
            <a:off x="4048363" y="5911187"/>
            <a:ext cx="4095273"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Prototype Pattern UML Diagram</a:t>
            </a:r>
          </a:p>
        </p:txBody>
      </p:sp>
      <p:sp>
        <p:nvSpPr>
          <p:cNvPr id="10" name="Footer Placeholder 5">
            <a:extLst>
              <a:ext uri="{FF2B5EF4-FFF2-40B4-BE49-F238E27FC236}">
                <a16:creationId xmlns:a16="http://schemas.microsoft.com/office/drawing/2014/main" id="{76F2993D-16EA-4DBE-BF28-8F27A22959DF}"/>
              </a:ext>
            </a:extLst>
          </p:cNvPr>
          <p:cNvSpPr>
            <a:spLocks noGrp="1"/>
          </p:cNvSpPr>
          <p:nvPr>
            <p:ph type="ftr" sz="quarter" idx="11"/>
          </p:nvPr>
        </p:nvSpPr>
        <p:spPr>
          <a:xfrm>
            <a:off x="3686185" y="6459785"/>
            <a:ext cx="4822804" cy="365125"/>
          </a:xfrm>
        </p:spPr>
        <p:txBody>
          <a:bodyPr/>
          <a:lstStyle/>
          <a:p>
            <a:r>
              <a:rPr lang="en-US" dirty="0"/>
              <a:t>Software design patterns</a:t>
            </a:r>
          </a:p>
        </p:txBody>
      </p:sp>
      <p:pic>
        <p:nvPicPr>
          <p:cNvPr id="6" name="Picture 5">
            <a:extLst>
              <a:ext uri="{FF2B5EF4-FFF2-40B4-BE49-F238E27FC236}">
                <a16:creationId xmlns:a16="http://schemas.microsoft.com/office/drawing/2014/main" id="{99C62D5F-3928-48CD-871F-5251CB915E71}"/>
              </a:ext>
            </a:extLst>
          </p:cNvPr>
          <p:cNvPicPr>
            <a:picLocks noChangeAspect="1"/>
          </p:cNvPicPr>
          <p:nvPr/>
        </p:nvPicPr>
        <p:blipFill>
          <a:blip r:embed="rId3"/>
          <a:stretch>
            <a:fillRect/>
          </a:stretch>
        </p:blipFill>
        <p:spPr>
          <a:xfrm>
            <a:off x="2408862" y="777536"/>
            <a:ext cx="6844190" cy="5031594"/>
          </a:xfrm>
          <a:prstGeom prst="rect">
            <a:avLst/>
          </a:prstGeom>
        </p:spPr>
      </p:pic>
    </p:spTree>
    <p:extLst>
      <p:ext uri="{BB962C8B-B14F-4D97-AF65-F5344CB8AC3E}">
        <p14:creationId xmlns:p14="http://schemas.microsoft.com/office/powerpoint/2010/main" val="24980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3" y="21390"/>
            <a:ext cx="5208104" cy="646331"/>
          </a:xfrm>
          <a:prstGeom prst="rect">
            <a:avLst/>
          </a:prstGeom>
          <a:noFill/>
        </p:spPr>
        <p:txBody>
          <a:bodyPr wrap="square" rtlCol="0">
            <a:spAutoFit/>
          </a:bodyPr>
          <a:lstStyle/>
          <a:p>
            <a:r>
              <a:rPr lang="en-US" sz="3600" b="1" dirty="0">
                <a:latin typeface="Sans"/>
              </a:rPr>
              <a:t>Builder Pattern</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21</a:t>
            </a:fld>
            <a:endParaRPr lang="en-US" dirty="0"/>
          </a:p>
        </p:txBody>
      </p:sp>
      <p:sp>
        <p:nvSpPr>
          <p:cNvPr id="2" name="Rectangle 1">
            <a:extLst>
              <a:ext uri="{FF2B5EF4-FFF2-40B4-BE49-F238E27FC236}">
                <a16:creationId xmlns:a16="http://schemas.microsoft.com/office/drawing/2014/main" id="{EBFF1A46-251E-4956-B3B4-51C6901D0F2D}"/>
              </a:ext>
            </a:extLst>
          </p:cNvPr>
          <p:cNvSpPr/>
          <p:nvPr/>
        </p:nvSpPr>
        <p:spPr>
          <a:xfrm>
            <a:off x="622853" y="861360"/>
            <a:ext cx="10721008"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Builder Pattern allows us to build complex objects piece by piece. Instead of passing many parameters to a constructor, we can set each property step by step in a clear and readable way</a:t>
            </a:r>
          </a:p>
        </p:txBody>
      </p:sp>
      <p:sp>
        <p:nvSpPr>
          <p:cNvPr id="10" name="Rectangle 2">
            <a:extLst>
              <a:ext uri="{FF2B5EF4-FFF2-40B4-BE49-F238E27FC236}">
                <a16:creationId xmlns:a16="http://schemas.microsoft.com/office/drawing/2014/main" id="{5FDABDE5-4F38-4CFB-A610-959884DAE9B5}"/>
              </a:ext>
            </a:extLst>
          </p:cNvPr>
          <p:cNvSpPr>
            <a:spLocks noChangeArrowheads="1"/>
          </p:cNvSpPr>
          <p:nvPr/>
        </p:nvSpPr>
        <p:spPr bwMode="auto">
          <a:xfrm>
            <a:off x="570877" y="4096344"/>
            <a:ext cx="7422776" cy="2304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latin typeface="Times New Roman" panose="02020603050405020304" pitchFamily="18" charset="0"/>
                <a:cs typeface="Times New Roman" panose="02020603050405020304" pitchFamily="18" charset="0"/>
              </a:rPr>
              <a:t>When to use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defTabSz="91440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Objects have many parameters</a:t>
            </a:r>
          </a:p>
          <a:p>
            <a:pPr marL="742950" lvl="1" indent="-285750" defTabSz="91440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parameters are optional</a:t>
            </a:r>
          </a:p>
          <a:p>
            <a:pPr marL="742950" lvl="1" indent="-285750" defTabSz="91440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Constructors become hard to read and maintain</a:t>
            </a:r>
          </a:p>
          <a:p>
            <a:pPr marL="742950" lvl="1" indent="-285750" defTabSz="91440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Prevents telescoping constructor problem</a:t>
            </a:r>
          </a:p>
          <a:p>
            <a:pPr marL="742950" lvl="1" indent="-285750" defTabSz="91440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Want to make object immutable after creation</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Rectangle 3">
            <a:extLst>
              <a:ext uri="{FF2B5EF4-FFF2-40B4-BE49-F238E27FC236}">
                <a16:creationId xmlns:a16="http://schemas.microsoft.com/office/drawing/2014/main" id="{3EF01EAF-40A9-4151-9315-C47EB728C155}"/>
              </a:ext>
            </a:extLst>
          </p:cNvPr>
          <p:cNvSpPr>
            <a:spLocks noChangeArrowheads="1"/>
          </p:cNvSpPr>
          <p:nvPr/>
        </p:nvSpPr>
        <p:spPr bwMode="auto">
          <a:xfrm>
            <a:off x="622853" y="1767746"/>
            <a:ext cx="5997388"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latin typeface="Times New Roman" panose="02020603050405020304" pitchFamily="18" charset="0"/>
                <a:cs typeface="Times New Roman" panose="02020603050405020304" pitchFamily="18" charset="0"/>
              </a:rPr>
              <a:t>Benefits: </a:t>
            </a:r>
          </a:p>
          <a:p>
            <a:pPr marL="0" marR="0" lvl="0" indent="0" algn="l" defTabSz="914400" rtl="0" eaLnBrk="0" fontAlgn="base" latinLnBrk="0" hangingPunct="0">
              <a:lnSpc>
                <a:spcPct val="100000"/>
              </a:lnSpc>
              <a:spcBef>
                <a:spcPct val="0"/>
              </a:spcBef>
              <a:spcAft>
                <a:spcPct val="0"/>
              </a:spcAft>
              <a:buClrTx/>
              <a:buSzTx/>
              <a:tabLst/>
            </a:pPr>
            <a:endParaRPr lang="en-US" altLang="en-US" sz="1100" b="1" dirty="0">
              <a:latin typeface="Times New Roman" panose="02020603050405020304" pitchFamily="18" charset="0"/>
              <a:cs typeface="Times New Roman" panose="02020603050405020304" pitchFamily="18" charset="0"/>
            </a:endParaRPr>
          </a:p>
          <a:p>
            <a:pPr marL="742950" lvl="1" indent="-285750" defTabSz="91440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code readability</a:t>
            </a:r>
          </a:p>
          <a:p>
            <a:pPr marL="742950" lvl="1" indent="-285750" defTabSz="91440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Handles complex object creation</a:t>
            </a:r>
          </a:p>
          <a:p>
            <a:pPr marL="742950" lvl="1" indent="-285750" defTabSz="91440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Avoids long and confusing constructors</a:t>
            </a:r>
          </a:p>
          <a:p>
            <a:pPr marL="742950" lvl="1" indent="-285750" defTabSz="91440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immutable objects</a:t>
            </a:r>
          </a:p>
          <a:p>
            <a:pPr marL="742950" lvl="1" indent="-285750" defTabSz="91440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Step-by-step object construction</a:t>
            </a:r>
          </a:p>
          <a:p>
            <a:pPr marL="742950" lvl="1" indent="-285750" defTabSz="91440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to extend and maintain</a:t>
            </a:r>
          </a:p>
        </p:txBody>
      </p:sp>
      <p:sp>
        <p:nvSpPr>
          <p:cNvPr id="12" name="Footer Placeholder 5">
            <a:extLst>
              <a:ext uri="{FF2B5EF4-FFF2-40B4-BE49-F238E27FC236}">
                <a16:creationId xmlns:a16="http://schemas.microsoft.com/office/drawing/2014/main" id="{886055C3-D285-4DC4-9257-C0DBDC999813}"/>
              </a:ext>
            </a:extLst>
          </p:cNvPr>
          <p:cNvSpPr>
            <a:spLocks noGrp="1"/>
          </p:cNvSpPr>
          <p:nvPr>
            <p:ph type="ftr" sz="quarter" idx="11"/>
          </p:nvPr>
        </p:nvSpPr>
        <p:spPr>
          <a:xfrm>
            <a:off x="3686185" y="6459785"/>
            <a:ext cx="4822804" cy="365125"/>
          </a:xfrm>
        </p:spPr>
        <p:txBody>
          <a:bodyPr/>
          <a:lstStyle/>
          <a:p>
            <a:r>
              <a:rPr lang="en-US" dirty="0"/>
              <a:t>Software design patterns</a:t>
            </a:r>
          </a:p>
        </p:txBody>
      </p:sp>
    </p:spTree>
    <p:extLst>
      <p:ext uri="{BB962C8B-B14F-4D97-AF65-F5344CB8AC3E}">
        <p14:creationId xmlns:p14="http://schemas.microsoft.com/office/powerpoint/2010/main" val="3169949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3" y="21390"/>
            <a:ext cx="5208104" cy="646331"/>
          </a:xfrm>
          <a:prstGeom prst="rect">
            <a:avLst/>
          </a:prstGeom>
          <a:noFill/>
        </p:spPr>
        <p:txBody>
          <a:bodyPr wrap="square" rtlCol="0">
            <a:spAutoFit/>
          </a:bodyPr>
          <a:lstStyle/>
          <a:p>
            <a:r>
              <a:rPr lang="en-US" sz="3600" b="1" dirty="0">
                <a:latin typeface="Sans"/>
              </a:rPr>
              <a:t>Builder Pattern</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22</a:t>
            </a:fld>
            <a:endParaRPr lang="en-US" dirty="0"/>
          </a:p>
        </p:txBody>
      </p:sp>
      <p:pic>
        <p:nvPicPr>
          <p:cNvPr id="9" name="Picture 8">
            <a:extLst>
              <a:ext uri="{FF2B5EF4-FFF2-40B4-BE49-F238E27FC236}">
                <a16:creationId xmlns:a16="http://schemas.microsoft.com/office/drawing/2014/main" id="{C637F8DC-D961-425F-9A37-427D2460D210}"/>
              </a:ext>
            </a:extLst>
          </p:cNvPr>
          <p:cNvPicPr>
            <a:picLocks noChangeAspect="1"/>
          </p:cNvPicPr>
          <p:nvPr/>
        </p:nvPicPr>
        <p:blipFill>
          <a:blip r:embed="rId3"/>
          <a:stretch>
            <a:fillRect/>
          </a:stretch>
        </p:blipFill>
        <p:spPr>
          <a:xfrm>
            <a:off x="2664670" y="710503"/>
            <a:ext cx="6862660" cy="5325035"/>
          </a:xfrm>
          <a:prstGeom prst="rect">
            <a:avLst/>
          </a:prstGeom>
        </p:spPr>
      </p:pic>
      <p:sp>
        <p:nvSpPr>
          <p:cNvPr id="13" name="TextBox 12">
            <a:extLst>
              <a:ext uri="{FF2B5EF4-FFF2-40B4-BE49-F238E27FC236}">
                <a16:creationId xmlns:a16="http://schemas.microsoft.com/office/drawing/2014/main" id="{BBA82B4D-C2B0-4105-BA7F-A96762F06DB4}"/>
              </a:ext>
            </a:extLst>
          </p:cNvPr>
          <p:cNvSpPr txBox="1"/>
          <p:nvPr/>
        </p:nvSpPr>
        <p:spPr>
          <a:xfrm>
            <a:off x="4288960" y="6035538"/>
            <a:ext cx="361408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Prototype Pattern UML Diagram</a:t>
            </a:r>
          </a:p>
        </p:txBody>
      </p:sp>
      <p:sp>
        <p:nvSpPr>
          <p:cNvPr id="10" name="Footer Placeholder 5">
            <a:extLst>
              <a:ext uri="{FF2B5EF4-FFF2-40B4-BE49-F238E27FC236}">
                <a16:creationId xmlns:a16="http://schemas.microsoft.com/office/drawing/2014/main" id="{3F815661-F472-466A-91FF-82EE58C2AB44}"/>
              </a:ext>
            </a:extLst>
          </p:cNvPr>
          <p:cNvSpPr>
            <a:spLocks noGrp="1"/>
          </p:cNvSpPr>
          <p:nvPr>
            <p:ph type="ftr" sz="quarter" idx="11"/>
          </p:nvPr>
        </p:nvSpPr>
        <p:spPr>
          <a:xfrm>
            <a:off x="3686185" y="6459785"/>
            <a:ext cx="4822804" cy="365125"/>
          </a:xfrm>
        </p:spPr>
        <p:txBody>
          <a:bodyPr/>
          <a:lstStyle/>
          <a:p>
            <a:r>
              <a:rPr lang="en-US" dirty="0"/>
              <a:t>Software design patterns</a:t>
            </a:r>
          </a:p>
        </p:txBody>
      </p:sp>
    </p:spTree>
    <p:extLst>
      <p:ext uri="{BB962C8B-B14F-4D97-AF65-F5344CB8AC3E}">
        <p14:creationId xmlns:p14="http://schemas.microsoft.com/office/powerpoint/2010/main" val="2104464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5615901" cy="646331"/>
          </a:xfrm>
          <a:prstGeom prst="rect">
            <a:avLst/>
          </a:prstGeom>
          <a:noFill/>
        </p:spPr>
        <p:txBody>
          <a:bodyPr wrap="square" rtlCol="0">
            <a:spAutoFit/>
          </a:bodyPr>
          <a:lstStyle/>
          <a:p>
            <a:r>
              <a:rPr lang="en-US" sz="3600" b="1" dirty="0">
                <a:latin typeface="Sans"/>
              </a:rPr>
              <a:t>Behavioral Design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23</a:t>
            </a:fld>
            <a:endParaRPr lang="en-US" dirty="0"/>
          </a:p>
        </p:txBody>
      </p:sp>
      <p:sp>
        <p:nvSpPr>
          <p:cNvPr id="2" name="Rectangle 1">
            <a:extLst>
              <a:ext uri="{FF2B5EF4-FFF2-40B4-BE49-F238E27FC236}">
                <a16:creationId xmlns:a16="http://schemas.microsoft.com/office/drawing/2014/main" id="{E85F6A05-1853-4A30-AC16-DA6E52C4BEB8}"/>
              </a:ext>
            </a:extLst>
          </p:cNvPr>
          <p:cNvSpPr/>
          <p:nvPr/>
        </p:nvSpPr>
        <p:spPr>
          <a:xfrm>
            <a:off x="622851" y="885690"/>
            <a:ext cx="11201596" cy="369332"/>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Behavioral design patterns are design patterns that focus on how objects communicate and interact with each other.</a:t>
            </a:r>
          </a:p>
        </p:txBody>
      </p:sp>
      <p:sp>
        <p:nvSpPr>
          <p:cNvPr id="11" name="Rectangle 10">
            <a:extLst>
              <a:ext uri="{FF2B5EF4-FFF2-40B4-BE49-F238E27FC236}">
                <a16:creationId xmlns:a16="http://schemas.microsoft.com/office/drawing/2014/main" id="{DC1BD1BE-27E8-48BD-B591-5780DCB08E35}"/>
              </a:ext>
            </a:extLst>
          </p:cNvPr>
          <p:cNvSpPr/>
          <p:nvPr/>
        </p:nvSpPr>
        <p:spPr>
          <a:xfrm>
            <a:off x="622851" y="3679052"/>
            <a:ext cx="4280843" cy="193899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Here are the behavioral design patterns</a:t>
            </a:r>
            <a:r>
              <a:rPr lang="en-US" dirty="0">
                <a:latin typeface="Times New Roman" panose="02020603050405020304" pitchFamily="18" charset="0"/>
                <a:cs typeface="Times New Roman" panose="02020603050405020304" pitchFamily="18" charset="0"/>
              </a:rPr>
              <a:t>:</a:t>
            </a:r>
          </a:p>
          <a:p>
            <a:endParaRPr lang="en-US" sz="105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Chain of Responsibility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Command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Iterator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Mediator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Memento</a:t>
            </a:r>
          </a:p>
        </p:txBody>
      </p:sp>
      <p:sp>
        <p:nvSpPr>
          <p:cNvPr id="13" name="Rectangle 2">
            <a:extLst>
              <a:ext uri="{FF2B5EF4-FFF2-40B4-BE49-F238E27FC236}">
                <a16:creationId xmlns:a16="http://schemas.microsoft.com/office/drawing/2014/main" id="{17F5BB86-9743-4C16-99DA-03CF7A20A118}"/>
              </a:ext>
            </a:extLst>
          </p:cNvPr>
          <p:cNvSpPr>
            <a:spLocks noChangeArrowheads="1"/>
          </p:cNvSpPr>
          <p:nvPr/>
        </p:nvSpPr>
        <p:spPr bwMode="auto">
          <a:xfrm>
            <a:off x="622851" y="1355660"/>
            <a:ext cx="9108141"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b="1" dirty="0">
                <a:latin typeface="Times New Roman" panose="02020603050405020304" pitchFamily="18" charset="0"/>
                <a:cs typeface="Times New Roman" panose="02020603050405020304" pitchFamily="18" charset="0"/>
              </a:rPr>
              <a:t>Key Characteristics;</a:t>
            </a: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500" b="1" dirty="0">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 on Communication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Define how objects interact and share responsibilities with each other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Flexible and Dynamic Behavior</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 behavior or algorithms to change dynamically at runtime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Promote Loose Coupling</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 tight dependencies by controlling how objects communicate</a:t>
            </a:r>
          </a:p>
        </p:txBody>
      </p:sp>
      <p:sp>
        <p:nvSpPr>
          <p:cNvPr id="15" name="Rectangle 14">
            <a:extLst>
              <a:ext uri="{FF2B5EF4-FFF2-40B4-BE49-F238E27FC236}">
                <a16:creationId xmlns:a16="http://schemas.microsoft.com/office/drawing/2014/main" id="{CD366675-D7FC-4EF2-A6FC-CF8F1312CF20}"/>
              </a:ext>
            </a:extLst>
          </p:cNvPr>
          <p:cNvSpPr/>
          <p:nvPr/>
        </p:nvSpPr>
        <p:spPr>
          <a:xfrm>
            <a:off x="4692828" y="3900188"/>
            <a:ext cx="4280843" cy="1754326"/>
          </a:xfrm>
          <a:prstGeom prst="rect">
            <a:avLst/>
          </a:prstGeom>
        </p:spPr>
        <p:txBody>
          <a:bodyPr wrap="square">
            <a:spAutoFit/>
          </a:bodyPr>
          <a:lstStyle/>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Observer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State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Strategy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Template Method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Visitor</a:t>
            </a:r>
            <a:endParaRPr lang="en-US" dirty="0">
              <a:effectLst/>
              <a:latin typeface="Times New Roman" panose="02020603050405020304" pitchFamily="18" charset="0"/>
              <a:cs typeface="Times New Roman" panose="02020603050405020304" pitchFamily="18" charset="0"/>
            </a:endParaRPr>
          </a:p>
        </p:txBody>
      </p:sp>
      <p:sp>
        <p:nvSpPr>
          <p:cNvPr id="16" name="Footer Placeholder 5">
            <a:extLst>
              <a:ext uri="{FF2B5EF4-FFF2-40B4-BE49-F238E27FC236}">
                <a16:creationId xmlns:a16="http://schemas.microsoft.com/office/drawing/2014/main" id="{77129A35-1574-49EC-B648-6D37970AEE28}"/>
              </a:ext>
            </a:extLst>
          </p:cNvPr>
          <p:cNvSpPr>
            <a:spLocks noGrp="1"/>
          </p:cNvSpPr>
          <p:nvPr>
            <p:ph type="ftr" sz="quarter" idx="11"/>
          </p:nvPr>
        </p:nvSpPr>
        <p:spPr>
          <a:xfrm>
            <a:off x="3686185" y="6459785"/>
            <a:ext cx="4822804" cy="365125"/>
          </a:xfrm>
        </p:spPr>
        <p:txBody>
          <a:bodyPr/>
          <a:lstStyle/>
          <a:p>
            <a:r>
              <a:rPr lang="en-US" dirty="0"/>
              <a:t>Software design patterns</a:t>
            </a:r>
          </a:p>
        </p:txBody>
      </p:sp>
    </p:spTree>
    <p:extLst>
      <p:ext uri="{BB962C8B-B14F-4D97-AF65-F5344CB8AC3E}">
        <p14:creationId xmlns:p14="http://schemas.microsoft.com/office/powerpoint/2010/main" val="25569161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9667"/>
            <a:ext cx="6969398" cy="658054"/>
          </a:xfrm>
          <a:prstGeom prst="rect">
            <a:avLst/>
          </a:prstGeom>
          <a:noFill/>
        </p:spPr>
        <p:txBody>
          <a:bodyPr wrap="square" rtlCol="0">
            <a:spAutoFit/>
          </a:bodyPr>
          <a:lstStyle/>
          <a:p>
            <a:r>
              <a:rPr lang="en-US" sz="3600" b="1" dirty="0">
                <a:latin typeface="Sans"/>
              </a:rPr>
              <a:t>Chain of Responsibility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24</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2" name="Rectangle 1">
            <a:extLst>
              <a:ext uri="{FF2B5EF4-FFF2-40B4-BE49-F238E27FC236}">
                <a16:creationId xmlns:a16="http://schemas.microsoft.com/office/drawing/2014/main" id="{47DD0009-B641-4950-8A14-FD33FC63558D}"/>
              </a:ext>
            </a:extLst>
          </p:cNvPr>
          <p:cNvSpPr/>
          <p:nvPr/>
        </p:nvSpPr>
        <p:spPr>
          <a:xfrm>
            <a:off x="622852" y="968206"/>
            <a:ext cx="10408024"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Chain of Responsibility allows you to pass a request through a chain of handlers. Each handler decides either to process the request or pass it to the next handler in the chain.</a:t>
            </a:r>
          </a:p>
        </p:txBody>
      </p:sp>
      <p:sp>
        <p:nvSpPr>
          <p:cNvPr id="9" name="Rectangle 8">
            <a:extLst>
              <a:ext uri="{FF2B5EF4-FFF2-40B4-BE49-F238E27FC236}">
                <a16:creationId xmlns:a16="http://schemas.microsoft.com/office/drawing/2014/main" id="{B24B035F-30CE-49DC-B8F5-17485C2B4D9A}"/>
              </a:ext>
            </a:extLst>
          </p:cNvPr>
          <p:cNvSpPr/>
          <p:nvPr/>
        </p:nvSpPr>
        <p:spPr>
          <a:xfrm>
            <a:off x="622852" y="1789387"/>
            <a:ext cx="8819673" cy="1661993"/>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Benefits:</a:t>
            </a:r>
          </a:p>
          <a:p>
            <a:endParaRPr lang="en-US" sz="105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Loose Coupling - Sender doesn't know who handles the request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Flexibility - Easy to add/remove handlers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Single Responsibility - Each handler has one job</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Dynamic Chain - Can change the chain at runtime</a:t>
            </a:r>
          </a:p>
        </p:txBody>
      </p:sp>
      <p:sp>
        <p:nvSpPr>
          <p:cNvPr id="10" name="Rectangle 1">
            <a:extLst>
              <a:ext uri="{FF2B5EF4-FFF2-40B4-BE49-F238E27FC236}">
                <a16:creationId xmlns:a16="http://schemas.microsoft.com/office/drawing/2014/main" id="{96354F62-587C-4D60-A85D-A323AFCAECFE}"/>
              </a:ext>
            </a:extLst>
          </p:cNvPr>
          <p:cNvSpPr>
            <a:spLocks noChangeArrowheads="1"/>
          </p:cNvSpPr>
          <p:nvPr/>
        </p:nvSpPr>
        <p:spPr bwMode="auto">
          <a:xfrm>
            <a:off x="622852" y="3609210"/>
            <a:ext cx="9747622"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latin typeface="Times New Roman" panose="02020603050405020304" pitchFamily="18" charset="0"/>
                <a:cs typeface="Times New Roman" panose="02020603050405020304" pitchFamily="18" charset="0"/>
              </a:rPr>
              <a:t>When to use</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multiple objects can handle a request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the handler is not known in advance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you want to pass a request through a chain of handlers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you want to avoid tight coupling between sender and receiver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request processing needs to follow a sequence or pipeline</a:t>
            </a:r>
          </a:p>
        </p:txBody>
      </p:sp>
      <p:sp>
        <p:nvSpPr>
          <p:cNvPr id="11" name="Rectangle 10">
            <a:extLst>
              <a:ext uri="{FF2B5EF4-FFF2-40B4-BE49-F238E27FC236}">
                <a16:creationId xmlns:a16="http://schemas.microsoft.com/office/drawing/2014/main" id="{3D8DE8AE-5185-4934-8B47-5531C3F3C999}"/>
              </a:ext>
            </a:extLst>
          </p:cNvPr>
          <p:cNvSpPr/>
          <p:nvPr/>
        </p:nvSpPr>
        <p:spPr>
          <a:xfrm>
            <a:off x="2333415" y="5792123"/>
            <a:ext cx="7342094" cy="36933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Chain of Responsibility = Pass request along handlers until one handles it</a:t>
            </a:r>
          </a:p>
        </p:txBody>
      </p:sp>
    </p:spTree>
    <p:extLst>
      <p:ext uri="{BB962C8B-B14F-4D97-AF65-F5344CB8AC3E}">
        <p14:creationId xmlns:p14="http://schemas.microsoft.com/office/powerpoint/2010/main" val="1255271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Chain of Responsibility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25</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pic>
        <p:nvPicPr>
          <p:cNvPr id="6" name="Picture 5">
            <a:extLst>
              <a:ext uri="{FF2B5EF4-FFF2-40B4-BE49-F238E27FC236}">
                <a16:creationId xmlns:a16="http://schemas.microsoft.com/office/drawing/2014/main" id="{26651BAC-8F00-41F1-8BB6-9D8A33DF90E7}"/>
              </a:ext>
            </a:extLst>
          </p:cNvPr>
          <p:cNvPicPr>
            <a:picLocks noChangeAspect="1"/>
          </p:cNvPicPr>
          <p:nvPr/>
        </p:nvPicPr>
        <p:blipFill>
          <a:blip r:embed="rId3"/>
          <a:stretch>
            <a:fillRect/>
          </a:stretch>
        </p:blipFill>
        <p:spPr>
          <a:xfrm>
            <a:off x="3569551" y="710503"/>
            <a:ext cx="4456942" cy="5289176"/>
          </a:xfrm>
          <a:prstGeom prst="rect">
            <a:avLst/>
          </a:prstGeom>
        </p:spPr>
      </p:pic>
      <p:sp>
        <p:nvSpPr>
          <p:cNvPr id="10" name="TextBox 9">
            <a:extLst>
              <a:ext uri="{FF2B5EF4-FFF2-40B4-BE49-F238E27FC236}">
                <a16:creationId xmlns:a16="http://schemas.microsoft.com/office/drawing/2014/main" id="{8ADD6DC2-57F4-45C7-ACC6-1D4ACDAAEBEA}"/>
              </a:ext>
            </a:extLst>
          </p:cNvPr>
          <p:cNvSpPr txBox="1"/>
          <p:nvPr/>
        </p:nvSpPr>
        <p:spPr>
          <a:xfrm>
            <a:off x="3679659" y="5978220"/>
            <a:ext cx="4822804"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Chain of Responsibility Pattern UML Diagram</a:t>
            </a:r>
          </a:p>
        </p:txBody>
      </p:sp>
    </p:spTree>
    <p:extLst>
      <p:ext uri="{BB962C8B-B14F-4D97-AF65-F5344CB8AC3E}">
        <p14:creationId xmlns:p14="http://schemas.microsoft.com/office/powerpoint/2010/main" val="40981338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Command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26</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2" name="Rectangle 1">
            <a:extLst>
              <a:ext uri="{FF2B5EF4-FFF2-40B4-BE49-F238E27FC236}">
                <a16:creationId xmlns:a16="http://schemas.microsoft.com/office/drawing/2014/main" id="{B8F17086-CE5A-4665-87F4-5FFE0CCDC464}"/>
              </a:ext>
            </a:extLst>
          </p:cNvPr>
          <p:cNvSpPr/>
          <p:nvPr/>
        </p:nvSpPr>
        <p:spPr>
          <a:xfrm>
            <a:off x="715450" y="899548"/>
            <a:ext cx="11165736" cy="646331"/>
          </a:xfrm>
          <a:prstGeom prst="rect">
            <a:avLst/>
          </a:prstGeom>
        </p:spPr>
        <p:txBody>
          <a:bodyPr wrap="square">
            <a:spAutoFit/>
          </a:bodyPr>
          <a:lstStyle/>
          <a:p>
            <a:pPr lvl="0" defTabSz="91440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Command Pattern turns a request or action into an object, so the sender does not need to know how the request is executed or who executes it.</a:t>
            </a:r>
          </a:p>
        </p:txBody>
      </p:sp>
      <p:sp>
        <p:nvSpPr>
          <p:cNvPr id="9" name="Rectangle 8">
            <a:extLst>
              <a:ext uri="{FF2B5EF4-FFF2-40B4-BE49-F238E27FC236}">
                <a16:creationId xmlns:a16="http://schemas.microsoft.com/office/drawing/2014/main" id="{A4A950DD-1F54-4C42-B033-4652965A1FF7}"/>
              </a:ext>
            </a:extLst>
          </p:cNvPr>
          <p:cNvSpPr/>
          <p:nvPr/>
        </p:nvSpPr>
        <p:spPr>
          <a:xfrm>
            <a:off x="715450" y="1694508"/>
            <a:ext cx="7618322" cy="1754326"/>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Benefits: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Loose coupling between sender and receiver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Makes it easy to add new commands without changing existing code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undo / redo functionality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Allows command queuing and logging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Improves code clarity and maintainability</a:t>
            </a:r>
          </a:p>
        </p:txBody>
      </p:sp>
      <p:sp>
        <p:nvSpPr>
          <p:cNvPr id="10" name="Rectangle 2">
            <a:extLst>
              <a:ext uri="{FF2B5EF4-FFF2-40B4-BE49-F238E27FC236}">
                <a16:creationId xmlns:a16="http://schemas.microsoft.com/office/drawing/2014/main" id="{41A17372-299D-448D-8318-09CD23CADF87}"/>
              </a:ext>
            </a:extLst>
          </p:cNvPr>
          <p:cNvSpPr>
            <a:spLocks noChangeArrowheads="1"/>
          </p:cNvSpPr>
          <p:nvPr/>
        </p:nvSpPr>
        <p:spPr bwMode="auto">
          <a:xfrm>
            <a:off x="715450" y="3874462"/>
            <a:ext cx="738464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latin typeface="Times New Roman" panose="02020603050405020304" pitchFamily="18" charset="0"/>
                <a:cs typeface="Times New Roman" panose="02020603050405020304" pitchFamily="18" charset="0"/>
              </a:rPr>
              <a:t>When to use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you want to decouple the requester from the executor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you need to queue, schedule, or log operations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you want to support undo and redo</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multiple commands can be executed in a uniform way</a:t>
            </a:r>
          </a:p>
        </p:txBody>
      </p:sp>
    </p:spTree>
    <p:extLst>
      <p:ext uri="{BB962C8B-B14F-4D97-AF65-F5344CB8AC3E}">
        <p14:creationId xmlns:p14="http://schemas.microsoft.com/office/powerpoint/2010/main" val="1492964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Command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27</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pic>
        <p:nvPicPr>
          <p:cNvPr id="11" name="Picture 10">
            <a:extLst>
              <a:ext uri="{FF2B5EF4-FFF2-40B4-BE49-F238E27FC236}">
                <a16:creationId xmlns:a16="http://schemas.microsoft.com/office/drawing/2014/main" id="{7FFF5B43-68CD-48C4-A7A0-1C7C40850C63}"/>
              </a:ext>
            </a:extLst>
          </p:cNvPr>
          <p:cNvPicPr>
            <a:picLocks noChangeAspect="1"/>
          </p:cNvPicPr>
          <p:nvPr/>
        </p:nvPicPr>
        <p:blipFill>
          <a:blip r:embed="rId3"/>
          <a:stretch>
            <a:fillRect/>
          </a:stretch>
        </p:blipFill>
        <p:spPr>
          <a:xfrm>
            <a:off x="3847927" y="805893"/>
            <a:ext cx="4496145" cy="5046562"/>
          </a:xfrm>
          <a:prstGeom prst="rect">
            <a:avLst/>
          </a:prstGeom>
        </p:spPr>
      </p:pic>
      <p:sp>
        <p:nvSpPr>
          <p:cNvPr id="13" name="TextBox 12">
            <a:extLst>
              <a:ext uri="{FF2B5EF4-FFF2-40B4-BE49-F238E27FC236}">
                <a16:creationId xmlns:a16="http://schemas.microsoft.com/office/drawing/2014/main" id="{AEA2789C-8483-46E5-8190-C7B0380FBE95}"/>
              </a:ext>
            </a:extLst>
          </p:cNvPr>
          <p:cNvSpPr txBox="1"/>
          <p:nvPr/>
        </p:nvSpPr>
        <p:spPr>
          <a:xfrm>
            <a:off x="4270647" y="5962327"/>
            <a:ext cx="3650703"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Command Pattern UML Diagram</a:t>
            </a:r>
          </a:p>
        </p:txBody>
      </p:sp>
    </p:spTree>
    <p:extLst>
      <p:ext uri="{BB962C8B-B14F-4D97-AF65-F5344CB8AC3E}">
        <p14:creationId xmlns:p14="http://schemas.microsoft.com/office/powerpoint/2010/main" val="36391451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Strategy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28</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2" name="Rectangle 1">
            <a:extLst>
              <a:ext uri="{FF2B5EF4-FFF2-40B4-BE49-F238E27FC236}">
                <a16:creationId xmlns:a16="http://schemas.microsoft.com/office/drawing/2014/main" id="{66E65FB0-ED48-4659-9022-8ED1F90FDF63}"/>
              </a:ext>
            </a:extLst>
          </p:cNvPr>
          <p:cNvSpPr/>
          <p:nvPr/>
        </p:nvSpPr>
        <p:spPr>
          <a:xfrm>
            <a:off x="622852" y="848428"/>
            <a:ext cx="10882383" cy="923330"/>
          </a:xfrm>
          <a:prstGeom prst="rect">
            <a:avLst/>
          </a:prstGeom>
        </p:spPr>
        <p:txBody>
          <a:bodyPr wrap="square">
            <a:spAutoFit/>
          </a:bodyPr>
          <a:lstStyle/>
          <a:p>
            <a:pPr algn="just" fontAlgn="base"/>
            <a:r>
              <a:rPr lang="en-US" dirty="0">
                <a:latin typeface="Times New Roman" panose="02020603050405020304" pitchFamily="18" charset="0"/>
                <a:cs typeface="Times New Roman" panose="02020603050405020304" pitchFamily="18" charset="0"/>
              </a:rPr>
              <a:t>Strategy Design Pattern is a behavioral design pattern  that allows you to define a family of algorithms or behaviors  strategies, put each of them in a separate class, and make them interchangeable at runtime. This pattern is useful when you want to dynamically change the behavior of a class without modifying its code.</a:t>
            </a:r>
          </a:p>
        </p:txBody>
      </p:sp>
      <p:sp>
        <p:nvSpPr>
          <p:cNvPr id="11" name="Rectangle 10">
            <a:extLst>
              <a:ext uri="{FF2B5EF4-FFF2-40B4-BE49-F238E27FC236}">
                <a16:creationId xmlns:a16="http://schemas.microsoft.com/office/drawing/2014/main" id="{8FB45D72-9973-4252-A59E-A52DE50EC479}"/>
              </a:ext>
            </a:extLst>
          </p:cNvPr>
          <p:cNvSpPr/>
          <p:nvPr/>
        </p:nvSpPr>
        <p:spPr>
          <a:xfrm>
            <a:off x="622852" y="4151018"/>
            <a:ext cx="7021975" cy="193899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When to use: </a:t>
            </a:r>
          </a:p>
          <a:p>
            <a:endParaRPr lang="en-US" sz="8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When you have multiple algorithms to perform the same task</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When the algorithm must be selected at runtime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When you want to avoid large if–else or switch statements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When different behaviors share the same interface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When algorithms may change or grow in the future</a:t>
            </a:r>
          </a:p>
        </p:txBody>
      </p:sp>
      <p:sp>
        <p:nvSpPr>
          <p:cNvPr id="12" name="Rectangle 4">
            <a:extLst>
              <a:ext uri="{FF2B5EF4-FFF2-40B4-BE49-F238E27FC236}">
                <a16:creationId xmlns:a16="http://schemas.microsoft.com/office/drawing/2014/main" id="{FC2C8AD2-4079-491E-99A6-C01318F8EA0F}"/>
              </a:ext>
            </a:extLst>
          </p:cNvPr>
          <p:cNvSpPr>
            <a:spLocks noChangeArrowheads="1"/>
          </p:cNvSpPr>
          <p:nvPr/>
        </p:nvSpPr>
        <p:spPr bwMode="auto">
          <a:xfrm>
            <a:off x="622852" y="1865668"/>
            <a:ext cx="9039828"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latin typeface="Times New Roman" panose="02020603050405020304" pitchFamily="18" charset="0"/>
                <a:cs typeface="Times New Roman" panose="02020603050405020304" pitchFamily="18" charset="0"/>
              </a:rPr>
              <a:t>Benefits: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Runtime flexibility change algorithm dynamically</a:t>
            </a:r>
          </a:p>
          <a:p>
            <a:pPr marL="285750" lvl="0" indent="-285750" algn="just" defTabSz="9144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Eliminates if–else logic each strategy is a separate class</a:t>
            </a:r>
          </a:p>
          <a:p>
            <a:pPr marL="285750" lvl="0" indent="-285750" algn="just" defTabSz="9144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Easy to extend add new strategies without modifying existing code</a:t>
            </a:r>
          </a:p>
          <a:p>
            <a:pPr marL="285750" lvl="0" indent="-285750" algn="just" defTabSz="9144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Encapsulation each algorithm is independent and self-contained</a:t>
            </a:r>
          </a:p>
          <a:p>
            <a:pPr marL="285750" lvl="0" indent="-285750" algn="just" defTabSz="9144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Follows Open Closed Principle open for extension closed for modification</a:t>
            </a:r>
          </a:p>
          <a:p>
            <a:pPr marL="285750" lvl="0" indent="-285750" algn="just" defTabSz="9144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Improves maintainability and readability</a:t>
            </a:r>
          </a:p>
        </p:txBody>
      </p:sp>
      <p:sp>
        <p:nvSpPr>
          <p:cNvPr id="14" name="Rectangle 13">
            <a:extLst>
              <a:ext uri="{FF2B5EF4-FFF2-40B4-BE49-F238E27FC236}">
                <a16:creationId xmlns:a16="http://schemas.microsoft.com/office/drawing/2014/main" id="{440CD6B0-12A5-43BA-BA07-69D5A7F7B032}"/>
              </a:ext>
            </a:extLst>
          </p:cNvPr>
          <p:cNvSpPr/>
          <p:nvPr/>
        </p:nvSpPr>
        <p:spPr>
          <a:xfrm>
            <a:off x="3686185" y="5961031"/>
            <a:ext cx="4672113"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Strategy Pattern = Select behavior at runtime</a:t>
            </a:r>
          </a:p>
        </p:txBody>
      </p:sp>
    </p:spTree>
    <p:extLst>
      <p:ext uri="{BB962C8B-B14F-4D97-AF65-F5344CB8AC3E}">
        <p14:creationId xmlns:p14="http://schemas.microsoft.com/office/powerpoint/2010/main" val="5380811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Strategy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29</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pic>
        <p:nvPicPr>
          <p:cNvPr id="9" name="Picture 8">
            <a:extLst>
              <a:ext uri="{FF2B5EF4-FFF2-40B4-BE49-F238E27FC236}">
                <a16:creationId xmlns:a16="http://schemas.microsoft.com/office/drawing/2014/main" id="{1BF21CD0-13BF-4A11-8484-6546205F1E76}"/>
              </a:ext>
            </a:extLst>
          </p:cNvPr>
          <p:cNvPicPr>
            <a:picLocks noChangeAspect="1"/>
          </p:cNvPicPr>
          <p:nvPr/>
        </p:nvPicPr>
        <p:blipFill>
          <a:blip r:embed="rId3"/>
          <a:stretch>
            <a:fillRect/>
          </a:stretch>
        </p:blipFill>
        <p:spPr>
          <a:xfrm>
            <a:off x="3030114" y="816132"/>
            <a:ext cx="5478875" cy="5067007"/>
          </a:xfrm>
          <a:prstGeom prst="rect">
            <a:avLst/>
          </a:prstGeom>
        </p:spPr>
      </p:pic>
      <p:sp>
        <p:nvSpPr>
          <p:cNvPr id="13" name="TextBox 12">
            <a:extLst>
              <a:ext uri="{FF2B5EF4-FFF2-40B4-BE49-F238E27FC236}">
                <a16:creationId xmlns:a16="http://schemas.microsoft.com/office/drawing/2014/main" id="{51F0D95B-A4F4-4BDF-BCB3-B26E8C12D461}"/>
              </a:ext>
            </a:extLst>
          </p:cNvPr>
          <p:cNvSpPr txBox="1"/>
          <p:nvPr/>
        </p:nvSpPr>
        <p:spPr>
          <a:xfrm>
            <a:off x="4290527" y="5962503"/>
            <a:ext cx="361094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Strategy Pattern UML Diagram</a:t>
            </a:r>
          </a:p>
        </p:txBody>
      </p:sp>
    </p:spTree>
    <p:extLst>
      <p:ext uri="{BB962C8B-B14F-4D97-AF65-F5344CB8AC3E}">
        <p14:creationId xmlns:p14="http://schemas.microsoft.com/office/powerpoint/2010/main" val="25660821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Observer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30</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9" name="TextBox 8">
            <a:extLst>
              <a:ext uri="{FF2B5EF4-FFF2-40B4-BE49-F238E27FC236}">
                <a16:creationId xmlns:a16="http://schemas.microsoft.com/office/drawing/2014/main" id="{7437F672-20D6-4500-A097-5FF0CAC96064}"/>
              </a:ext>
            </a:extLst>
          </p:cNvPr>
          <p:cNvSpPr txBox="1"/>
          <p:nvPr/>
        </p:nvSpPr>
        <p:spPr>
          <a:xfrm>
            <a:off x="640466" y="782805"/>
            <a:ext cx="10968437"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Observer Pattern defines a one-to-many dependency between objects so that when one object (Subject) changes state, all its dependent objects (Observers) are notified and updated automatically.</a:t>
            </a:r>
          </a:p>
        </p:txBody>
      </p:sp>
      <p:sp>
        <p:nvSpPr>
          <p:cNvPr id="11" name="TextBox 10">
            <a:extLst>
              <a:ext uri="{FF2B5EF4-FFF2-40B4-BE49-F238E27FC236}">
                <a16:creationId xmlns:a16="http://schemas.microsoft.com/office/drawing/2014/main" id="{8C4CA5BC-787C-4EEF-820A-7E95478AA93F}"/>
              </a:ext>
            </a:extLst>
          </p:cNvPr>
          <p:cNvSpPr txBox="1"/>
          <p:nvPr/>
        </p:nvSpPr>
        <p:spPr>
          <a:xfrm>
            <a:off x="640466" y="1653951"/>
            <a:ext cx="7456612" cy="198156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Components:</a:t>
            </a:r>
          </a:p>
          <a:p>
            <a:pPr marL="34290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Subject</a:t>
            </a:r>
            <a:r>
              <a:rPr lang="en-US" dirty="0">
                <a:latin typeface="Times New Roman" panose="02020603050405020304" pitchFamily="18" charset="0"/>
                <a:cs typeface="Times New Roman" panose="02020603050405020304" pitchFamily="18" charset="0"/>
              </a:rPr>
              <a:t> - The object being observed (maintains list of observers)</a:t>
            </a:r>
          </a:p>
          <a:p>
            <a:pPr marL="34290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Observer</a:t>
            </a:r>
            <a:r>
              <a:rPr lang="en-US" dirty="0">
                <a:latin typeface="Times New Roman" panose="02020603050405020304" pitchFamily="18" charset="0"/>
                <a:cs typeface="Times New Roman" panose="02020603050405020304" pitchFamily="18" charset="0"/>
              </a:rPr>
              <a:t> - Objects that want to be notified of changes</a:t>
            </a:r>
          </a:p>
          <a:p>
            <a:pPr marL="34290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Concrete Subject</a:t>
            </a:r>
            <a:r>
              <a:rPr lang="en-US" dirty="0">
                <a:latin typeface="Times New Roman" panose="02020603050405020304" pitchFamily="18" charset="0"/>
                <a:cs typeface="Times New Roman" panose="02020603050405020304" pitchFamily="18" charset="0"/>
              </a:rPr>
              <a:t> - Implements subject, holds the state</a:t>
            </a:r>
          </a:p>
          <a:p>
            <a:pPr marL="34290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Concrete Observers</a:t>
            </a:r>
            <a:r>
              <a:rPr lang="en-US" dirty="0">
                <a:latin typeface="Times New Roman" panose="02020603050405020304" pitchFamily="18" charset="0"/>
                <a:cs typeface="Times New Roman" panose="02020603050405020304" pitchFamily="18" charset="0"/>
              </a:rPr>
              <a:t> - Implements observer, receives updates</a:t>
            </a:r>
          </a:p>
        </p:txBody>
      </p:sp>
      <p:sp>
        <p:nvSpPr>
          <p:cNvPr id="13" name="TextBox 12">
            <a:extLst>
              <a:ext uri="{FF2B5EF4-FFF2-40B4-BE49-F238E27FC236}">
                <a16:creationId xmlns:a16="http://schemas.microsoft.com/office/drawing/2014/main" id="{EEDF090E-1104-465D-B561-409CF7DFB4B8}"/>
              </a:ext>
            </a:extLst>
          </p:cNvPr>
          <p:cNvSpPr txBox="1"/>
          <p:nvPr/>
        </p:nvSpPr>
        <p:spPr>
          <a:xfrm>
            <a:off x="640466" y="3944044"/>
            <a:ext cx="8812696" cy="1938992"/>
          </a:xfrm>
          <a:prstGeom prst="rect">
            <a:avLst/>
          </a:prstGeom>
          <a:noFill/>
        </p:spPr>
        <p:txBody>
          <a:bodyPr wrap="square">
            <a:spAutoFit/>
          </a:bodyPr>
          <a:lstStyle/>
          <a:p>
            <a:r>
              <a:rPr lang="en-US" b="1" dirty="0"/>
              <a:t>When to use :</a:t>
            </a:r>
          </a:p>
          <a:p>
            <a:endParaRPr lang="en-US" sz="1050" b="1" dirty="0"/>
          </a:p>
          <a:p>
            <a:pPr marL="285750" indent="-285750">
              <a:buFont typeface="Arial" panose="020B0604020202020204" pitchFamily="34" charset="0"/>
              <a:buChar char="•"/>
            </a:pPr>
            <a:r>
              <a:rPr lang="en-US" dirty="0"/>
              <a:t>When changes to one object require changing multiple objects</a:t>
            </a:r>
          </a:p>
          <a:p>
            <a:pPr marL="285750" indent="-285750">
              <a:buFont typeface="Arial" panose="020B0604020202020204" pitchFamily="34" charset="0"/>
              <a:buChar char="•"/>
            </a:pPr>
            <a:r>
              <a:rPr lang="en-US" dirty="0"/>
              <a:t>When an object should notify others without knowing who they are</a:t>
            </a:r>
          </a:p>
          <a:p>
            <a:pPr marL="285750" indent="-285750">
              <a:buFont typeface="Arial" panose="020B0604020202020204" pitchFamily="34" charset="0"/>
              <a:buChar char="•"/>
            </a:pPr>
            <a:r>
              <a:rPr lang="en-US" dirty="0"/>
              <a:t>When you need a broadcast communication mechanism</a:t>
            </a:r>
          </a:p>
          <a:p>
            <a:pPr marL="285750" indent="-285750">
              <a:buFont typeface="Arial" panose="020B0604020202020204" pitchFamily="34" charset="0"/>
              <a:buChar char="•"/>
            </a:pPr>
            <a:r>
              <a:rPr lang="en-US" dirty="0"/>
              <a:t>When objects should be loosely coupled</a:t>
            </a:r>
          </a:p>
          <a:p>
            <a:pPr marL="285750" indent="-285750">
              <a:buFont typeface="Arial" panose="020B0604020202020204" pitchFamily="34" charset="0"/>
              <a:buChar char="•"/>
            </a:pPr>
            <a:r>
              <a:rPr lang="en-US" dirty="0"/>
              <a:t>When observers can be added/removed dynamically at runtime</a:t>
            </a:r>
          </a:p>
        </p:txBody>
      </p:sp>
    </p:spTree>
    <p:extLst>
      <p:ext uri="{BB962C8B-B14F-4D97-AF65-F5344CB8AC3E}">
        <p14:creationId xmlns:p14="http://schemas.microsoft.com/office/powerpoint/2010/main" val="22191049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Observer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31</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12" name="TextBox 11">
            <a:extLst>
              <a:ext uri="{FF2B5EF4-FFF2-40B4-BE49-F238E27FC236}">
                <a16:creationId xmlns:a16="http://schemas.microsoft.com/office/drawing/2014/main" id="{BBFD59FB-22CC-480A-A54A-FB5B2A1C130A}"/>
              </a:ext>
            </a:extLst>
          </p:cNvPr>
          <p:cNvSpPr txBox="1"/>
          <p:nvPr/>
        </p:nvSpPr>
        <p:spPr>
          <a:xfrm>
            <a:off x="622852" y="996148"/>
            <a:ext cx="9618998" cy="2812565"/>
          </a:xfrm>
          <a:prstGeom prst="rect">
            <a:avLst/>
          </a:prstGeom>
          <a:noFill/>
        </p:spPr>
        <p:txBody>
          <a:bodyPr wrap="square">
            <a:spAutoFit/>
          </a:bodyPr>
          <a:lstStyle/>
          <a:p>
            <a:r>
              <a:rPr lang="en-US" b="1" dirty="0"/>
              <a:t>Benefits: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Subject and observers are loosely coupled</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Observers can be added or removed at runtime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One state change notifies multiple observers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New observers can be added without modifying existing code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Subjects and observers can be reused independently</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New observer types can be added easily</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34464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Observer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32</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pic>
        <p:nvPicPr>
          <p:cNvPr id="6" name="Picture 5">
            <a:extLst>
              <a:ext uri="{FF2B5EF4-FFF2-40B4-BE49-F238E27FC236}">
                <a16:creationId xmlns:a16="http://schemas.microsoft.com/office/drawing/2014/main" id="{78FDFA90-01F2-4024-B46A-EF601B5E4E3B}"/>
              </a:ext>
            </a:extLst>
          </p:cNvPr>
          <p:cNvPicPr>
            <a:picLocks noChangeAspect="1"/>
          </p:cNvPicPr>
          <p:nvPr/>
        </p:nvPicPr>
        <p:blipFill>
          <a:blip r:embed="rId3"/>
          <a:stretch>
            <a:fillRect/>
          </a:stretch>
        </p:blipFill>
        <p:spPr>
          <a:xfrm>
            <a:off x="3822563" y="710503"/>
            <a:ext cx="4686426" cy="5146958"/>
          </a:xfrm>
          <a:prstGeom prst="rect">
            <a:avLst/>
          </a:prstGeom>
        </p:spPr>
      </p:pic>
      <p:sp>
        <p:nvSpPr>
          <p:cNvPr id="13" name="TextBox 12">
            <a:extLst>
              <a:ext uri="{FF2B5EF4-FFF2-40B4-BE49-F238E27FC236}">
                <a16:creationId xmlns:a16="http://schemas.microsoft.com/office/drawing/2014/main" id="{338C769B-6328-4F4B-9AAB-2B08CEA98E8B}"/>
              </a:ext>
            </a:extLst>
          </p:cNvPr>
          <p:cNvSpPr txBox="1"/>
          <p:nvPr/>
        </p:nvSpPr>
        <p:spPr>
          <a:xfrm>
            <a:off x="4333798" y="5951578"/>
            <a:ext cx="366395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Observer Pattern UML Diagram</a:t>
            </a:r>
          </a:p>
        </p:txBody>
      </p:sp>
    </p:spTree>
    <p:extLst>
      <p:ext uri="{BB962C8B-B14F-4D97-AF65-F5344CB8AC3E}">
        <p14:creationId xmlns:p14="http://schemas.microsoft.com/office/powerpoint/2010/main" val="4510188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Observer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33</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13" name="TextBox 12">
            <a:extLst>
              <a:ext uri="{FF2B5EF4-FFF2-40B4-BE49-F238E27FC236}">
                <a16:creationId xmlns:a16="http://schemas.microsoft.com/office/drawing/2014/main" id="{338C769B-6328-4F4B-9AAB-2B08CEA98E8B}"/>
              </a:ext>
            </a:extLst>
          </p:cNvPr>
          <p:cNvSpPr txBox="1"/>
          <p:nvPr/>
        </p:nvSpPr>
        <p:spPr>
          <a:xfrm>
            <a:off x="4333798" y="5951578"/>
            <a:ext cx="366395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Observer Pattern UML Diagram</a:t>
            </a:r>
          </a:p>
        </p:txBody>
      </p:sp>
      <p:pic>
        <p:nvPicPr>
          <p:cNvPr id="9" name="Picture 8">
            <a:extLst>
              <a:ext uri="{FF2B5EF4-FFF2-40B4-BE49-F238E27FC236}">
                <a16:creationId xmlns:a16="http://schemas.microsoft.com/office/drawing/2014/main" id="{FB4AD532-7E94-45B5-92FF-5D0C5E579746}"/>
              </a:ext>
            </a:extLst>
          </p:cNvPr>
          <p:cNvPicPr>
            <a:picLocks noChangeAspect="1"/>
          </p:cNvPicPr>
          <p:nvPr/>
        </p:nvPicPr>
        <p:blipFill>
          <a:blip r:embed="rId3"/>
          <a:stretch>
            <a:fillRect/>
          </a:stretch>
        </p:blipFill>
        <p:spPr>
          <a:xfrm>
            <a:off x="3686185" y="774026"/>
            <a:ext cx="4518317" cy="5007899"/>
          </a:xfrm>
          <a:prstGeom prst="rect">
            <a:avLst/>
          </a:prstGeom>
        </p:spPr>
      </p:pic>
    </p:spTree>
    <p:extLst>
      <p:ext uri="{BB962C8B-B14F-4D97-AF65-F5344CB8AC3E}">
        <p14:creationId xmlns:p14="http://schemas.microsoft.com/office/powerpoint/2010/main" val="34269172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Iterator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34</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2" name="Rectangle 1">
            <a:extLst>
              <a:ext uri="{FF2B5EF4-FFF2-40B4-BE49-F238E27FC236}">
                <a16:creationId xmlns:a16="http://schemas.microsoft.com/office/drawing/2014/main" id="{271747E0-8F42-476A-82F4-D93BF19FAEBD}"/>
              </a:ext>
            </a:extLst>
          </p:cNvPr>
          <p:cNvSpPr/>
          <p:nvPr/>
        </p:nvSpPr>
        <p:spPr>
          <a:xfrm>
            <a:off x="622852" y="892643"/>
            <a:ext cx="10589631"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Iterator Pattern provides a way to access elements of a collection sequentially without exposing the underlying representation (like array, list, etc.).</a:t>
            </a:r>
          </a:p>
        </p:txBody>
      </p:sp>
      <p:sp>
        <p:nvSpPr>
          <p:cNvPr id="6" name="Rectangle 1">
            <a:extLst>
              <a:ext uri="{FF2B5EF4-FFF2-40B4-BE49-F238E27FC236}">
                <a16:creationId xmlns:a16="http://schemas.microsoft.com/office/drawing/2014/main" id="{13FF2811-7C66-47CB-B6AA-E412BFBF0982}"/>
              </a:ext>
            </a:extLst>
          </p:cNvPr>
          <p:cNvSpPr>
            <a:spLocks noChangeArrowheads="1"/>
          </p:cNvSpPr>
          <p:nvPr/>
        </p:nvSpPr>
        <p:spPr bwMode="auto">
          <a:xfrm rot="10800000" flipV="1">
            <a:off x="622852" y="3698506"/>
            <a:ext cx="876748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Benefits: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Uniform access to traverse collections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Hides internal data structure (encapsulation)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multiple iterators at the same time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changing internal storage without client impact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Separates data storage from traversal logic (SRP)</a:t>
            </a:r>
          </a:p>
        </p:txBody>
      </p:sp>
      <p:sp>
        <p:nvSpPr>
          <p:cNvPr id="9" name="Rectangle 2">
            <a:extLst>
              <a:ext uri="{FF2B5EF4-FFF2-40B4-BE49-F238E27FC236}">
                <a16:creationId xmlns:a16="http://schemas.microsoft.com/office/drawing/2014/main" id="{A7D0A30B-6728-42DA-9520-104F8939090D}"/>
              </a:ext>
            </a:extLst>
          </p:cNvPr>
          <p:cNvSpPr>
            <a:spLocks noChangeArrowheads="1"/>
          </p:cNvSpPr>
          <p:nvPr/>
        </p:nvSpPr>
        <p:spPr bwMode="auto">
          <a:xfrm>
            <a:off x="622852" y="1674674"/>
            <a:ext cx="906799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latin typeface="Times New Roman" panose="02020603050405020304" pitchFamily="18" charset="0"/>
                <a:cs typeface="Times New Roman" panose="02020603050405020304" pitchFamily="18" charset="0"/>
              </a:rPr>
              <a:t>When to use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When you need to traverse a collection without exposing its internal structure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When different collections should be traversed in the same way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When traversal logic should be separated from the collection logic</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When multiple traversals are needed at the same time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When the internal data structure may change in the future</a:t>
            </a:r>
          </a:p>
        </p:txBody>
      </p:sp>
    </p:spTree>
    <p:extLst>
      <p:ext uri="{BB962C8B-B14F-4D97-AF65-F5344CB8AC3E}">
        <p14:creationId xmlns:p14="http://schemas.microsoft.com/office/powerpoint/2010/main" val="39823303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Iterator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35</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pic>
        <p:nvPicPr>
          <p:cNvPr id="11" name="Picture 10">
            <a:extLst>
              <a:ext uri="{FF2B5EF4-FFF2-40B4-BE49-F238E27FC236}">
                <a16:creationId xmlns:a16="http://schemas.microsoft.com/office/drawing/2014/main" id="{C2A27D3C-7484-4378-96FE-C2C7240D21FF}"/>
              </a:ext>
            </a:extLst>
          </p:cNvPr>
          <p:cNvPicPr>
            <a:picLocks noChangeAspect="1"/>
          </p:cNvPicPr>
          <p:nvPr/>
        </p:nvPicPr>
        <p:blipFill>
          <a:blip r:embed="rId3"/>
          <a:stretch>
            <a:fillRect/>
          </a:stretch>
        </p:blipFill>
        <p:spPr>
          <a:xfrm>
            <a:off x="2634185" y="923365"/>
            <a:ext cx="6780194" cy="4751294"/>
          </a:xfrm>
          <a:prstGeom prst="rect">
            <a:avLst/>
          </a:prstGeom>
        </p:spPr>
      </p:pic>
      <p:sp>
        <p:nvSpPr>
          <p:cNvPr id="9" name="TextBox 8">
            <a:extLst>
              <a:ext uri="{FF2B5EF4-FFF2-40B4-BE49-F238E27FC236}">
                <a16:creationId xmlns:a16="http://schemas.microsoft.com/office/drawing/2014/main" id="{8316CE9E-05EC-4E3D-A967-B4ECC9F3BD60}"/>
              </a:ext>
            </a:extLst>
          </p:cNvPr>
          <p:cNvSpPr txBox="1"/>
          <p:nvPr/>
        </p:nvSpPr>
        <p:spPr>
          <a:xfrm>
            <a:off x="4264022" y="5761026"/>
            <a:ext cx="366395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Iterator Pattern UML Diagram</a:t>
            </a:r>
          </a:p>
        </p:txBody>
      </p:sp>
    </p:spTree>
    <p:extLst>
      <p:ext uri="{BB962C8B-B14F-4D97-AF65-F5344CB8AC3E}">
        <p14:creationId xmlns:p14="http://schemas.microsoft.com/office/powerpoint/2010/main" val="31211549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Template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36</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6" name="Rectangle 5">
            <a:extLst>
              <a:ext uri="{FF2B5EF4-FFF2-40B4-BE49-F238E27FC236}">
                <a16:creationId xmlns:a16="http://schemas.microsoft.com/office/drawing/2014/main" id="{CAB1D2D2-CBB4-4317-819A-556F339317B8}"/>
              </a:ext>
            </a:extLst>
          </p:cNvPr>
          <p:cNvSpPr/>
          <p:nvPr/>
        </p:nvSpPr>
        <p:spPr>
          <a:xfrm>
            <a:off x="622852" y="899548"/>
            <a:ext cx="10735588" cy="923330"/>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Template Method Design Pattern is a behavioral pattern that defines the skeleton of an algorithm in a base method while allowing subclasses to override specific steps without altering its overall structure. It’s like a recipe: the main steps remain fixed, but details can be customized for variation.</a:t>
            </a:r>
          </a:p>
        </p:txBody>
      </p:sp>
      <p:sp>
        <p:nvSpPr>
          <p:cNvPr id="9" name="Rectangle 8">
            <a:extLst>
              <a:ext uri="{FF2B5EF4-FFF2-40B4-BE49-F238E27FC236}">
                <a16:creationId xmlns:a16="http://schemas.microsoft.com/office/drawing/2014/main" id="{B8F1721E-4EB1-4829-B023-778764137BD1}"/>
              </a:ext>
            </a:extLst>
          </p:cNvPr>
          <p:cNvSpPr/>
          <p:nvPr/>
        </p:nvSpPr>
        <p:spPr>
          <a:xfrm>
            <a:off x="638185" y="2054705"/>
            <a:ext cx="8371344" cy="1754326"/>
          </a:xfrm>
          <a:prstGeom prst="rect">
            <a:avLst/>
          </a:prstGeom>
        </p:spPr>
        <p:txBody>
          <a:bodyPr wrap="square">
            <a:spAutoFit/>
          </a:bodyPr>
          <a:lstStyle/>
          <a:p>
            <a:pPr algn="just"/>
            <a:r>
              <a:rPr lang="en-US" b="1" dirty="0">
                <a:latin typeface="Times New Roman" panose="02020603050405020304" pitchFamily="18" charset="0"/>
                <a:cs typeface="Times New Roman" panose="02020603050405020304" pitchFamily="18" charset="0"/>
              </a:rPr>
              <a:t>Benefits:</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Reuse common code across subclasses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Maintain consistent algorithm structure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Customize only specific steps in subclasses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Easy maintenance: template updates apply to all</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Encapsulate invariant behavior in base class</a:t>
            </a:r>
          </a:p>
        </p:txBody>
      </p:sp>
      <p:sp>
        <p:nvSpPr>
          <p:cNvPr id="2" name="Rectangle 1">
            <a:extLst>
              <a:ext uri="{FF2B5EF4-FFF2-40B4-BE49-F238E27FC236}">
                <a16:creationId xmlns:a16="http://schemas.microsoft.com/office/drawing/2014/main" id="{AED8E1C6-3723-4B54-B8FA-DE32A8A52D68}"/>
              </a:ext>
            </a:extLst>
          </p:cNvPr>
          <p:cNvSpPr>
            <a:spLocks noChangeArrowheads="1"/>
          </p:cNvSpPr>
          <p:nvPr/>
        </p:nvSpPr>
        <p:spPr bwMode="auto">
          <a:xfrm>
            <a:off x="583097" y="3809031"/>
            <a:ext cx="983518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to use: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Framework development: Where some steps are fixed, some customizable (Spring, Android)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processing: Follows Read data → Process → Write pattern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Game development: Game loop where initialize → play → end structure is same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Network communication: Connection open → Data send → Connection close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Report generation: Different formats (PDF, Excel, HTML) but same process </a:t>
            </a:r>
          </a:p>
        </p:txBody>
      </p:sp>
    </p:spTree>
    <p:extLst>
      <p:ext uri="{BB962C8B-B14F-4D97-AF65-F5344CB8AC3E}">
        <p14:creationId xmlns:p14="http://schemas.microsoft.com/office/powerpoint/2010/main" val="28261607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Template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37</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pic>
        <p:nvPicPr>
          <p:cNvPr id="10" name="Picture 9">
            <a:extLst>
              <a:ext uri="{FF2B5EF4-FFF2-40B4-BE49-F238E27FC236}">
                <a16:creationId xmlns:a16="http://schemas.microsoft.com/office/drawing/2014/main" id="{4F9FBE21-36FC-44BD-9070-F1CE55A11B50}"/>
              </a:ext>
            </a:extLst>
          </p:cNvPr>
          <p:cNvPicPr>
            <a:picLocks noChangeAspect="1"/>
          </p:cNvPicPr>
          <p:nvPr/>
        </p:nvPicPr>
        <p:blipFill>
          <a:blip r:embed="rId3"/>
          <a:stretch>
            <a:fillRect/>
          </a:stretch>
        </p:blipFill>
        <p:spPr>
          <a:xfrm>
            <a:off x="1622611" y="899548"/>
            <a:ext cx="9135035" cy="4882377"/>
          </a:xfrm>
          <a:prstGeom prst="rect">
            <a:avLst/>
          </a:prstGeom>
        </p:spPr>
      </p:pic>
      <p:sp>
        <p:nvSpPr>
          <p:cNvPr id="9" name="TextBox 8">
            <a:extLst>
              <a:ext uri="{FF2B5EF4-FFF2-40B4-BE49-F238E27FC236}">
                <a16:creationId xmlns:a16="http://schemas.microsoft.com/office/drawing/2014/main" id="{7C994271-0686-4604-9696-179D2FD30A55}"/>
              </a:ext>
            </a:extLst>
          </p:cNvPr>
          <p:cNvSpPr txBox="1"/>
          <p:nvPr/>
        </p:nvSpPr>
        <p:spPr>
          <a:xfrm>
            <a:off x="4333798" y="5951578"/>
            <a:ext cx="366395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Template Pattern UML Diagram</a:t>
            </a:r>
          </a:p>
        </p:txBody>
      </p:sp>
    </p:spTree>
    <p:extLst>
      <p:ext uri="{BB962C8B-B14F-4D97-AF65-F5344CB8AC3E}">
        <p14:creationId xmlns:p14="http://schemas.microsoft.com/office/powerpoint/2010/main" val="5717467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Memento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38</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6" name="Rectangle 5">
            <a:extLst>
              <a:ext uri="{FF2B5EF4-FFF2-40B4-BE49-F238E27FC236}">
                <a16:creationId xmlns:a16="http://schemas.microsoft.com/office/drawing/2014/main" id="{163C0386-2CB3-4D2B-A0BD-1449BFA16884}"/>
              </a:ext>
            </a:extLst>
          </p:cNvPr>
          <p:cNvSpPr/>
          <p:nvPr/>
        </p:nvSpPr>
        <p:spPr>
          <a:xfrm>
            <a:off x="622852" y="782441"/>
            <a:ext cx="11169632" cy="923330"/>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The Memento Design Pattern is a behavioral pattern that helps save and restore an object's state without exposing its internal details. It is like a "snapshot" that allows you to roll back changes if something goes wrong. It is widely used in undo-redo functionality in applications like text editors or games</a:t>
            </a:r>
          </a:p>
        </p:txBody>
      </p:sp>
      <p:sp>
        <p:nvSpPr>
          <p:cNvPr id="9" name="Rectangle 8">
            <a:extLst>
              <a:ext uri="{FF2B5EF4-FFF2-40B4-BE49-F238E27FC236}">
                <a16:creationId xmlns:a16="http://schemas.microsoft.com/office/drawing/2014/main" id="{51DB4D59-49BE-453A-9A6A-DB3A03874B37}"/>
              </a:ext>
            </a:extLst>
          </p:cNvPr>
          <p:cNvSpPr/>
          <p:nvPr/>
        </p:nvSpPr>
        <p:spPr>
          <a:xfrm>
            <a:off x="622852" y="1820491"/>
            <a:ext cx="7403249" cy="1200329"/>
          </a:xfrm>
          <a:prstGeom prst="rect">
            <a:avLst/>
          </a:prstGeom>
        </p:spPr>
        <p:txBody>
          <a:bodyPr wrap="square">
            <a:spAutoFit/>
          </a:bodyPr>
          <a:lstStyle/>
          <a:p>
            <a:pPr algn="just"/>
            <a:r>
              <a:rPr lang="en-US" b="1" dirty="0">
                <a:latin typeface="Times New Roman" panose="02020603050405020304" pitchFamily="18" charset="0"/>
                <a:cs typeface="Times New Roman" panose="02020603050405020304" pitchFamily="18" charset="0"/>
              </a:rPr>
              <a:t>Key Components:</a:t>
            </a: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Memento - Stores the snapshot of the object's state</a:t>
            </a: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Originator - The object whose state needs to be saved/restored</a:t>
            </a: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Caretaker - Manages and keeps track of multiple mementos (history)</a:t>
            </a:r>
          </a:p>
        </p:txBody>
      </p:sp>
      <p:sp>
        <p:nvSpPr>
          <p:cNvPr id="10" name="Rectangle 9">
            <a:extLst>
              <a:ext uri="{FF2B5EF4-FFF2-40B4-BE49-F238E27FC236}">
                <a16:creationId xmlns:a16="http://schemas.microsoft.com/office/drawing/2014/main" id="{359DFB46-F016-4CF7-B78D-204BD6AE80E5}"/>
              </a:ext>
            </a:extLst>
          </p:cNvPr>
          <p:cNvSpPr/>
          <p:nvPr/>
        </p:nvSpPr>
        <p:spPr>
          <a:xfrm>
            <a:off x="622852" y="3135540"/>
            <a:ext cx="8431501" cy="313932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Benefits: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Preserve object state without breaking encapsulation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Simplify originator by offloading state management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 undo/redo operations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Enable rollback or snapshot functionality</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Usages: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Text editors (undo/redo changes)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Graphics/drawing apps (undo drawing operations)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Games (save/load progress or checkpoints)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Database transactions (rollback, </a:t>
            </a:r>
            <a:r>
              <a:rPr lang="en-US" dirty="0" err="1">
                <a:latin typeface="Times New Roman" panose="02020603050405020304" pitchFamily="18" charset="0"/>
                <a:cs typeface="Times New Roman" panose="02020603050405020304" pitchFamily="18" charset="0"/>
              </a:rPr>
              <a:t>savepoints</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75891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Memento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39</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pic>
        <p:nvPicPr>
          <p:cNvPr id="6" name="Picture 5">
            <a:extLst>
              <a:ext uri="{FF2B5EF4-FFF2-40B4-BE49-F238E27FC236}">
                <a16:creationId xmlns:a16="http://schemas.microsoft.com/office/drawing/2014/main" id="{A42CCD20-25BF-487B-949A-FF84963E5CDD}"/>
              </a:ext>
            </a:extLst>
          </p:cNvPr>
          <p:cNvPicPr>
            <a:picLocks noChangeAspect="1"/>
          </p:cNvPicPr>
          <p:nvPr/>
        </p:nvPicPr>
        <p:blipFill>
          <a:blip r:embed="rId3"/>
          <a:stretch>
            <a:fillRect/>
          </a:stretch>
        </p:blipFill>
        <p:spPr>
          <a:xfrm>
            <a:off x="2642601" y="869576"/>
            <a:ext cx="6117904" cy="4823012"/>
          </a:xfrm>
          <a:prstGeom prst="rect">
            <a:avLst/>
          </a:prstGeom>
        </p:spPr>
      </p:pic>
      <p:sp>
        <p:nvSpPr>
          <p:cNvPr id="9" name="TextBox 8">
            <a:extLst>
              <a:ext uri="{FF2B5EF4-FFF2-40B4-BE49-F238E27FC236}">
                <a16:creationId xmlns:a16="http://schemas.microsoft.com/office/drawing/2014/main" id="{D4D1F00C-9071-438A-A69F-8385F138065A}"/>
              </a:ext>
            </a:extLst>
          </p:cNvPr>
          <p:cNvSpPr txBox="1"/>
          <p:nvPr/>
        </p:nvSpPr>
        <p:spPr>
          <a:xfrm>
            <a:off x="4333798" y="5951578"/>
            <a:ext cx="366395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Memento Pattern UML Diagram</a:t>
            </a:r>
          </a:p>
        </p:txBody>
      </p:sp>
    </p:spTree>
    <p:extLst>
      <p:ext uri="{BB962C8B-B14F-4D97-AF65-F5344CB8AC3E}">
        <p14:creationId xmlns:p14="http://schemas.microsoft.com/office/powerpoint/2010/main" val="31841237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Mediator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40</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2" name="Rectangle 1">
            <a:extLst>
              <a:ext uri="{FF2B5EF4-FFF2-40B4-BE49-F238E27FC236}">
                <a16:creationId xmlns:a16="http://schemas.microsoft.com/office/drawing/2014/main" id="{5D520B4E-799D-4F57-ADD3-3A4447D79A78}"/>
              </a:ext>
            </a:extLst>
          </p:cNvPr>
          <p:cNvSpPr/>
          <p:nvPr/>
        </p:nvSpPr>
        <p:spPr>
          <a:xfrm>
            <a:off x="611781" y="758727"/>
            <a:ext cx="10968437" cy="923330"/>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The Mediator Pattern is a behavioral design pattern that defines an object (mediator) that controls how a set of objects interact with each other. Instead of objects communicating directly with each other, they communicate through the mediator.</a:t>
            </a:r>
          </a:p>
        </p:txBody>
      </p:sp>
      <p:sp>
        <p:nvSpPr>
          <p:cNvPr id="6" name="Rectangle 5">
            <a:extLst>
              <a:ext uri="{FF2B5EF4-FFF2-40B4-BE49-F238E27FC236}">
                <a16:creationId xmlns:a16="http://schemas.microsoft.com/office/drawing/2014/main" id="{5DFAC175-EE88-4BBB-B4D9-D625CF145A11}"/>
              </a:ext>
            </a:extLst>
          </p:cNvPr>
          <p:cNvSpPr/>
          <p:nvPr/>
        </p:nvSpPr>
        <p:spPr>
          <a:xfrm>
            <a:off x="622852" y="3207391"/>
            <a:ext cx="6096000" cy="1477328"/>
          </a:xfrm>
          <a:prstGeom prst="rect">
            <a:avLst/>
          </a:prstGeom>
        </p:spPr>
        <p:txBody>
          <a:bodyPr>
            <a:spAutoFit/>
          </a:bodyPr>
          <a:lstStyle/>
          <a:p>
            <a:r>
              <a:rPr lang="en-US" b="1" dirty="0">
                <a:latin typeface="Times New Roman" panose="02020603050405020304" pitchFamily="18" charset="0"/>
                <a:cs typeface="Times New Roman" panose="02020603050405020304" pitchFamily="18" charset="0"/>
              </a:rPr>
              <a:t>Benefits: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Objects only know the mediator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Loose coupling between objects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Easy to add new objects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Centralized communication logic</a:t>
            </a:r>
          </a:p>
        </p:txBody>
      </p:sp>
      <p:sp>
        <p:nvSpPr>
          <p:cNvPr id="9" name="Rectangle 8">
            <a:extLst>
              <a:ext uri="{FF2B5EF4-FFF2-40B4-BE49-F238E27FC236}">
                <a16:creationId xmlns:a16="http://schemas.microsoft.com/office/drawing/2014/main" id="{E47BFA4B-BA78-41A9-A53E-FF62DC638806}"/>
              </a:ext>
            </a:extLst>
          </p:cNvPr>
          <p:cNvSpPr/>
          <p:nvPr/>
        </p:nvSpPr>
        <p:spPr>
          <a:xfrm>
            <a:off x="622852" y="1706060"/>
            <a:ext cx="6737172" cy="1477328"/>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Key Components:</a:t>
            </a:r>
          </a:p>
          <a:p>
            <a:pPr marL="342900" indent="-342900">
              <a:buFont typeface="+mj-lt"/>
              <a:buAutoNum type="arabicPeriod"/>
            </a:pPr>
            <a:r>
              <a:rPr lang="en-US" b="1" dirty="0">
                <a:latin typeface="Times New Roman" panose="02020603050405020304" pitchFamily="18" charset="0"/>
                <a:cs typeface="Times New Roman" panose="02020603050405020304" pitchFamily="18" charset="0"/>
              </a:rPr>
              <a:t>Mediator Interface</a:t>
            </a:r>
            <a:r>
              <a:rPr lang="en-US" dirty="0">
                <a:latin typeface="Times New Roman" panose="02020603050405020304" pitchFamily="18" charset="0"/>
                <a:cs typeface="Times New Roman" panose="02020603050405020304" pitchFamily="18" charset="0"/>
              </a:rPr>
              <a:t> - Defines communication protocol</a:t>
            </a:r>
          </a:p>
          <a:p>
            <a:pPr marL="342900" indent="-342900">
              <a:buFont typeface="+mj-lt"/>
              <a:buAutoNum type="arabicPeriod"/>
            </a:pPr>
            <a:r>
              <a:rPr lang="en-US" b="1" dirty="0">
                <a:latin typeface="Times New Roman" panose="02020603050405020304" pitchFamily="18" charset="0"/>
                <a:cs typeface="Times New Roman" panose="02020603050405020304" pitchFamily="18" charset="0"/>
              </a:rPr>
              <a:t>Concrete Mediator</a:t>
            </a:r>
            <a:r>
              <a:rPr lang="en-US" dirty="0">
                <a:latin typeface="Times New Roman" panose="02020603050405020304" pitchFamily="18" charset="0"/>
                <a:cs typeface="Times New Roman" panose="02020603050405020304" pitchFamily="18" charset="0"/>
              </a:rPr>
              <a:t> - Implements coordination logic</a:t>
            </a:r>
          </a:p>
          <a:p>
            <a:pPr marL="342900" indent="-342900">
              <a:buFont typeface="+mj-lt"/>
              <a:buAutoNum type="arabicPeriod"/>
            </a:pPr>
            <a:r>
              <a:rPr lang="en-US" b="1" dirty="0">
                <a:latin typeface="Times New Roman" panose="02020603050405020304" pitchFamily="18" charset="0"/>
                <a:cs typeface="Times New Roman" panose="02020603050405020304" pitchFamily="18" charset="0"/>
              </a:rPr>
              <a:t>Colleague Classes</a:t>
            </a:r>
            <a:r>
              <a:rPr lang="en-US" dirty="0">
                <a:latin typeface="Times New Roman" panose="02020603050405020304" pitchFamily="18" charset="0"/>
                <a:cs typeface="Times New Roman" panose="02020603050405020304" pitchFamily="18" charset="0"/>
              </a:rPr>
              <a:t> - Objects that communicate through mediator</a:t>
            </a:r>
          </a:p>
          <a:p>
            <a:pPr marL="342900" indent="-342900">
              <a:buFont typeface="+mj-lt"/>
              <a:buAutoNum type="arabicPeriod"/>
            </a:pPr>
            <a:r>
              <a:rPr lang="en-US" b="1" dirty="0">
                <a:latin typeface="Times New Roman" panose="02020603050405020304" pitchFamily="18" charset="0"/>
                <a:cs typeface="Times New Roman" panose="02020603050405020304" pitchFamily="18" charset="0"/>
              </a:rPr>
              <a:t>Communication Flow</a:t>
            </a:r>
            <a:r>
              <a:rPr lang="en-US" dirty="0">
                <a:latin typeface="Times New Roman" panose="02020603050405020304" pitchFamily="18" charset="0"/>
                <a:cs typeface="Times New Roman" panose="02020603050405020304" pitchFamily="18" charset="0"/>
              </a:rPr>
              <a:t> - Through mediator only</a:t>
            </a:r>
          </a:p>
        </p:txBody>
      </p:sp>
      <p:sp>
        <p:nvSpPr>
          <p:cNvPr id="10" name="Rectangle 1">
            <a:extLst>
              <a:ext uri="{FF2B5EF4-FFF2-40B4-BE49-F238E27FC236}">
                <a16:creationId xmlns:a16="http://schemas.microsoft.com/office/drawing/2014/main" id="{AFCDB71E-D290-481A-A04D-05D41E44D0FC}"/>
              </a:ext>
            </a:extLst>
          </p:cNvPr>
          <p:cNvSpPr>
            <a:spLocks noChangeArrowheads="1"/>
          </p:cNvSpPr>
          <p:nvPr/>
        </p:nvSpPr>
        <p:spPr bwMode="auto">
          <a:xfrm>
            <a:off x="611781" y="4568286"/>
            <a:ext cx="912607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Usages: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complex communication between multiple objects.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Promotes loose coupling by centralizing interactions.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Coordinates workflow or sequences of actions among components.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Simplifies maintenance by keeping communication logic in one place.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Encapsulates complex interaction rules and decision-making.</a:t>
            </a:r>
          </a:p>
        </p:txBody>
      </p:sp>
    </p:spTree>
    <p:extLst>
      <p:ext uri="{BB962C8B-B14F-4D97-AF65-F5344CB8AC3E}">
        <p14:creationId xmlns:p14="http://schemas.microsoft.com/office/powerpoint/2010/main" val="42225019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Mediator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41</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pic>
        <p:nvPicPr>
          <p:cNvPr id="6" name="Picture 5">
            <a:extLst>
              <a:ext uri="{FF2B5EF4-FFF2-40B4-BE49-F238E27FC236}">
                <a16:creationId xmlns:a16="http://schemas.microsoft.com/office/drawing/2014/main" id="{ABBC65BB-F921-4922-98F7-3BB7F06954DC}"/>
              </a:ext>
            </a:extLst>
          </p:cNvPr>
          <p:cNvPicPr>
            <a:picLocks noChangeAspect="1"/>
          </p:cNvPicPr>
          <p:nvPr/>
        </p:nvPicPr>
        <p:blipFill>
          <a:blip r:embed="rId3"/>
          <a:stretch>
            <a:fillRect/>
          </a:stretch>
        </p:blipFill>
        <p:spPr>
          <a:xfrm>
            <a:off x="622852" y="932330"/>
            <a:ext cx="5381502" cy="4742329"/>
          </a:xfrm>
          <a:prstGeom prst="rect">
            <a:avLst/>
          </a:prstGeom>
        </p:spPr>
      </p:pic>
      <p:pic>
        <p:nvPicPr>
          <p:cNvPr id="9" name="Picture 8">
            <a:extLst>
              <a:ext uri="{FF2B5EF4-FFF2-40B4-BE49-F238E27FC236}">
                <a16:creationId xmlns:a16="http://schemas.microsoft.com/office/drawing/2014/main" id="{A3412D1B-C399-4864-B88B-70C159406757}"/>
              </a:ext>
            </a:extLst>
          </p:cNvPr>
          <p:cNvPicPr>
            <a:picLocks noChangeAspect="1"/>
          </p:cNvPicPr>
          <p:nvPr/>
        </p:nvPicPr>
        <p:blipFill>
          <a:blip r:embed="rId4"/>
          <a:stretch>
            <a:fillRect/>
          </a:stretch>
        </p:blipFill>
        <p:spPr>
          <a:xfrm>
            <a:off x="8163873" y="844412"/>
            <a:ext cx="2254405" cy="4918163"/>
          </a:xfrm>
          <a:prstGeom prst="rect">
            <a:avLst/>
          </a:prstGeom>
        </p:spPr>
      </p:pic>
      <p:sp>
        <p:nvSpPr>
          <p:cNvPr id="10" name="TextBox 9">
            <a:extLst>
              <a:ext uri="{FF2B5EF4-FFF2-40B4-BE49-F238E27FC236}">
                <a16:creationId xmlns:a16="http://schemas.microsoft.com/office/drawing/2014/main" id="{F05731FA-1724-436D-9A27-CDB9509A9B7D}"/>
              </a:ext>
            </a:extLst>
          </p:cNvPr>
          <p:cNvSpPr txBox="1"/>
          <p:nvPr/>
        </p:nvSpPr>
        <p:spPr>
          <a:xfrm>
            <a:off x="4333798" y="5951578"/>
            <a:ext cx="366395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Mediator Pattern UML Diagram</a:t>
            </a:r>
          </a:p>
        </p:txBody>
      </p:sp>
    </p:spTree>
    <p:extLst>
      <p:ext uri="{BB962C8B-B14F-4D97-AF65-F5344CB8AC3E}">
        <p14:creationId xmlns:p14="http://schemas.microsoft.com/office/powerpoint/2010/main" val="12479718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Structural Design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42</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2" name="Rectangle 1">
            <a:extLst>
              <a:ext uri="{FF2B5EF4-FFF2-40B4-BE49-F238E27FC236}">
                <a16:creationId xmlns:a16="http://schemas.microsoft.com/office/drawing/2014/main" id="{4957D410-C412-47A8-853B-9221B58607D6}"/>
              </a:ext>
            </a:extLst>
          </p:cNvPr>
          <p:cNvSpPr/>
          <p:nvPr/>
        </p:nvSpPr>
        <p:spPr>
          <a:xfrm>
            <a:off x="640465" y="848542"/>
            <a:ext cx="10572017" cy="923330"/>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Structural Design Patterns are design patterns that deal with how classes and objects are composed to form larger structures. They focus on simplifying relationships between entities, making the system easier to understand and maintain.</a:t>
            </a:r>
          </a:p>
        </p:txBody>
      </p:sp>
      <p:sp>
        <p:nvSpPr>
          <p:cNvPr id="9" name="Rectangle 8">
            <a:extLst>
              <a:ext uri="{FF2B5EF4-FFF2-40B4-BE49-F238E27FC236}">
                <a16:creationId xmlns:a16="http://schemas.microsoft.com/office/drawing/2014/main" id="{BAAC960A-9C25-4AA4-A286-ED7349A765C0}"/>
              </a:ext>
            </a:extLst>
          </p:cNvPr>
          <p:cNvSpPr/>
          <p:nvPr/>
        </p:nvSpPr>
        <p:spPr>
          <a:xfrm>
            <a:off x="640466" y="1952693"/>
            <a:ext cx="6096000" cy="1754326"/>
          </a:xfrm>
          <a:prstGeom prst="rect">
            <a:avLst/>
          </a:prstGeom>
        </p:spPr>
        <p:txBody>
          <a:bodyPr>
            <a:spAutoFit/>
          </a:bodyPr>
          <a:lstStyle/>
          <a:p>
            <a:r>
              <a:rPr lang="en-US" b="1" dirty="0">
                <a:latin typeface="Times New Roman" panose="02020603050405020304" pitchFamily="18" charset="0"/>
                <a:cs typeface="Times New Roman" panose="02020603050405020304" pitchFamily="18" charset="0"/>
              </a:rPr>
              <a:t>Main Purpose: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Simplify structure by identifying relationships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Compose objects to form larger structures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Make systems flexible and easy to modify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 coupling between components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Promote reusability of code</a:t>
            </a:r>
          </a:p>
        </p:txBody>
      </p:sp>
      <p:sp>
        <p:nvSpPr>
          <p:cNvPr id="10" name="Rectangle 1">
            <a:extLst>
              <a:ext uri="{FF2B5EF4-FFF2-40B4-BE49-F238E27FC236}">
                <a16:creationId xmlns:a16="http://schemas.microsoft.com/office/drawing/2014/main" id="{5B2596BE-1412-4BCF-9280-F6C15D2AC37F}"/>
              </a:ext>
            </a:extLst>
          </p:cNvPr>
          <p:cNvSpPr>
            <a:spLocks noChangeArrowheads="1"/>
          </p:cNvSpPr>
          <p:nvPr/>
        </p:nvSpPr>
        <p:spPr bwMode="auto">
          <a:xfrm>
            <a:off x="640465" y="3766930"/>
            <a:ext cx="710004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There are 7 types of Structural Design Patterns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Bridge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Composite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Decorator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Facade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Flyweight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Proxy</a:t>
            </a:r>
          </a:p>
        </p:txBody>
      </p:sp>
    </p:spTree>
    <p:extLst>
      <p:ext uri="{BB962C8B-B14F-4D97-AF65-F5344CB8AC3E}">
        <p14:creationId xmlns:p14="http://schemas.microsoft.com/office/powerpoint/2010/main" val="38613028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Adapter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43</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6" name="Rectangle 5">
            <a:extLst>
              <a:ext uri="{FF2B5EF4-FFF2-40B4-BE49-F238E27FC236}">
                <a16:creationId xmlns:a16="http://schemas.microsoft.com/office/drawing/2014/main" id="{2FA8B2A1-2B61-49C3-B1A8-AFCF5C3C98E9}"/>
              </a:ext>
            </a:extLst>
          </p:cNvPr>
          <p:cNvSpPr/>
          <p:nvPr/>
        </p:nvSpPr>
        <p:spPr>
          <a:xfrm>
            <a:off x="622852" y="899548"/>
            <a:ext cx="10717816" cy="923330"/>
          </a:xfrm>
          <a:prstGeom prst="rect">
            <a:avLst/>
          </a:prstGeom>
        </p:spPr>
        <p:txBody>
          <a:bodyPr wrap="square">
            <a:spAutoFit/>
          </a:bodyPr>
          <a:lstStyle/>
          <a:p>
            <a:pPr algn="just"/>
            <a:r>
              <a:rPr lang="en-US" dirty="0">
                <a:solidFill>
                  <a:srgbClr val="273239"/>
                </a:solidFill>
                <a:latin typeface="Times New Roman" panose="02020603050405020304" pitchFamily="18" charset="0"/>
                <a:cs typeface="Times New Roman" panose="02020603050405020304" pitchFamily="18" charset="0"/>
              </a:rPr>
              <a:t>Adapter Pattern is a structural design pattern that allows incompatible interfaces to work together by converting the interface of an existing class into another interface that the client expects. The adapter acts as a bridge between two incompatible interfaces without changing their existing code.</a:t>
            </a:r>
            <a:endParaRPr lang="en-US"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8D61AC3B-FA0E-4D3F-9563-94E91746563C}"/>
              </a:ext>
            </a:extLst>
          </p:cNvPr>
          <p:cNvSpPr/>
          <p:nvPr/>
        </p:nvSpPr>
        <p:spPr>
          <a:xfrm>
            <a:off x="622852" y="1836543"/>
            <a:ext cx="6096000" cy="1477328"/>
          </a:xfrm>
          <a:prstGeom prst="rect">
            <a:avLst/>
          </a:prstGeom>
        </p:spPr>
        <p:txBody>
          <a:bodyPr>
            <a:spAutoFit/>
          </a:bodyPr>
          <a:lstStyle/>
          <a:p>
            <a:r>
              <a:rPr lang="en-US" b="1" dirty="0">
                <a:latin typeface="Times New Roman" panose="02020603050405020304" pitchFamily="18" charset="0"/>
                <a:cs typeface="Times New Roman" panose="02020603050405020304" pitchFamily="18" charset="0"/>
              </a:rPr>
              <a:t>Key Components:</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Target Interface - The interface that client expects</a:t>
            </a:r>
          </a:p>
          <a:p>
            <a:pPr marL="342900" indent="-342900">
              <a:buFont typeface="+mj-lt"/>
              <a:buAutoNum type="arabicPeriod"/>
            </a:pPr>
            <a:r>
              <a:rPr lang="en-US" dirty="0" err="1">
                <a:latin typeface="Times New Roman" panose="02020603050405020304" pitchFamily="18" charset="0"/>
                <a:cs typeface="Times New Roman" panose="02020603050405020304" pitchFamily="18" charset="0"/>
              </a:rPr>
              <a:t>Adaptee</a:t>
            </a:r>
            <a:r>
              <a:rPr lang="en-US" dirty="0">
                <a:latin typeface="Times New Roman" panose="02020603050405020304" pitchFamily="18" charset="0"/>
                <a:cs typeface="Times New Roman" panose="02020603050405020304" pitchFamily="18" charset="0"/>
              </a:rPr>
              <a:t> - The existing class with incompatible interface</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Adapter - Converts </a:t>
            </a:r>
            <a:r>
              <a:rPr lang="en-US" dirty="0" err="1">
                <a:latin typeface="Times New Roman" panose="02020603050405020304" pitchFamily="18" charset="0"/>
                <a:cs typeface="Times New Roman" panose="02020603050405020304" pitchFamily="18" charset="0"/>
              </a:rPr>
              <a:t>Adaptee's</a:t>
            </a:r>
            <a:r>
              <a:rPr lang="en-US" dirty="0">
                <a:latin typeface="Times New Roman" panose="02020603050405020304" pitchFamily="18" charset="0"/>
                <a:cs typeface="Times New Roman" panose="02020603050405020304" pitchFamily="18" charset="0"/>
              </a:rPr>
              <a:t> interface to Target interface</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Client - Uses Target interface</a:t>
            </a:r>
          </a:p>
        </p:txBody>
      </p:sp>
      <p:sp>
        <p:nvSpPr>
          <p:cNvPr id="15" name="Rectangle 14">
            <a:extLst>
              <a:ext uri="{FF2B5EF4-FFF2-40B4-BE49-F238E27FC236}">
                <a16:creationId xmlns:a16="http://schemas.microsoft.com/office/drawing/2014/main" id="{819D5BBC-78FC-4B72-A6C7-BDC82AAED41A}"/>
              </a:ext>
            </a:extLst>
          </p:cNvPr>
          <p:cNvSpPr/>
          <p:nvPr/>
        </p:nvSpPr>
        <p:spPr>
          <a:xfrm>
            <a:off x="622852" y="3497333"/>
            <a:ext cx="6096000" cy="1477328"/>
          </a:xfrm>
          <a:prstGeom prst="rect">
            <a:avLst/>
          </a:prstGeom>
        </p:spPr>
        <p:txBody>
          <a:bodyPr>
            <a:spAutoFit/>
          </a:bodyPr>
          <a:lstStyle/>
          <a:p>
            <a:r>
              <a:rPr lang="en-US" b="1" dirty="0">
                <a:latin typeface="Times New Roman" panose="02020603050405020304" pitchFamily="18" charset="0"/>
                <a:cs typeface="Times New Roman" panose="02020603050405020304" pitchFamily="18" charset="0"/>
              </a:rPr>
              <a:t>When to use: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Enables interoperability between incompatible interfaces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Allows reuse of existing or legacy code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Avoids rewriting large portions of code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integrate third-party libraries smoothly</a:t>
            </a:r>
          </a:p>
        </p:txBody>
      </p:sp>
    </p:spTree>
    <p:extLst>
      <p:ext uri="{BB962C8B-B14F-4D97-AF65-F5344CB8AC3E}">
        <p14:creationId xmlns:p14="http://schemas.microsoft.com/office/powerpoint/2010/main" val="18826479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Adapter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44</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2" name="Rectangle 1">
            <a:extLst>
              <a:ext uri="{FF2B5EF4-FFF2-40B4-BE49-F238E27FC236}">
                <a16:creationId xmlns:a16="http://schemas.microsoft.com/office/drawing/2014/main" id="{8F3E2533-B455-4D6B-A85F-4A3C0573E08C}"/>
              </a:ext>
            </a:extLst>
          </p:cNvPr>
          <p:cNvSpPr/>
          <p:nvPr/>
        </p:nvSpPr>
        <p:spPr>
          <a:xfrm>
            <a:off x="622852" y="932264"/>
            <a:ext cx="6096000" cy="2031325"/>
          </a:xfrm>
          <a:prstGeom prst="rect">
            <a:avLst/>
          </a:prstGeom>
        </p:spPr>
        <p:txBody>
          <a:bodyPr>
            <a:spAutoFit/>
          </a:bodyPr>
          <a:lstStyle/>
          <a:p>
            <a:r>
              <a:rPr lang="en-US" b="1" dirty="0">
                <a:latin typeface="Times New Roman" panose="02020603050405020304" pitchFamily="18" charset="0"/>
                <a:cs typeface="Times New Roman" panose="02020603050405020304" pitchFamily="18" charset="0"/>
              </a:rPr>
              <a:t>Benefits: </a:t>
            </a:r>
          </a:p>
          <a:p>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Promotes code reuse without modification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Keeps classes focused on core responsibility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multiple interfaces via interchangeable adapters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Improves loose coupling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Makes systems easier to modify and extend</a:t>
            </a:r>
          </a:p>
        </p:txBody>
      </p:sp>
      <p:sp>
        <p:nvSpPr>
          <p:cNvPr id="10" name="Rectangle 9">
            <a:extLst>
              <a:ext uri="{FF2B5EF4-FFF2-40B4-BE49-F238E27FC236}">
                <a16:creationId xmlns:a16="http://schemas.microsoft.com/office/drawing/2014/main" id="{0EBBCC0B-CD1D-4221-B0CE-D8AFF619521D}"/>
              </a:ext>
            </a:extLst>
          </p:cNvPr>
          <p:cNvSpPr/>
          <p:nvPr/>
        </p:nvSpPr>
        <p:spPr>
          <a:xfrm>
            <a:off x="622852" y="3148254"/>
            <a:ext cx="6096000" cy="2031325"/>
          </a:xfrm>
          <a:prstGeom prst="rect">
            <a:avLst/>
          </a:prstGeom>
        </p:spPr>
        <p:txBody>
          <a:bodyPr>
            <a:spAutoFit/>
          </a:bodyPr>
          <a:lstStyle/>
          <a:p>
            <a:r>
              <a:rPr lang="en-US" b="1" dirty="0">
                <a:latin typeface="Times New Roman" panose="02020603050405020304" pitchFamily="18" charset="0"/>
                <a:cs typeface="Times New Roman" panose="02020603050405020304" pitchFamily="18" charset="0"/>
              </a:rPr>
              <a:t>Usages:</a:t>
            </a:r>
          </a:p>
          <a:p>
            <a:endParaRPr lang="en-US" sz="14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Integrating incompatible systems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Reusing legacy or third-party code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Supporting multiple data formats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Migrating from old API to new API</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Centralizing compatibility logic</a:t>
            </a:r>
          </a:p>
        </p:txBody>
      </p:sp>
    </p:spTree>
    <p:extLst>
      <p:ext uri="{BB962C8B-B14F-4D97-AF65-F5344CB8AC3E}">
        <p14:creationId xmlns:p14="http://schemas.microsoft.com/office/powerpoint/2010/main" val="778368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Adapter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45</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pic>
        <p:nvPicPr>
          <p:cNvPr id="9" name="Picture 8">
            <a:extLst>
              <a:ext uri="{FF2B5EF4-FFF2-40B4-BE49-F238E27FC236}">
                <a16:creationId xmlns:a16="http://schemas.microsoft.com/office/drawing/2014/main" id="{6E27BD88-F3BC-4476-A628-214BCED5088A}"/>
              </a:ext>
            </a:extLst>
          </p:cNvPr>
          <p:cNvPicPr>
            <a:picLocks noChangeAspect="1"/>
          </p:cNvPicPr>
          <p:nvPr/>
        </p:nvPicPr>
        <p:blipFill>
          <a:blip r:embed="rId3"/>
          <a:stretch>
            <a:fillRect/>
          </a:stretch>
        </p:blipFill>
        <p:spPr>
          <a:xfrm>
            <a:off x="1106031" y="804362"/>
            <a:ext cx="9450439" cy="5030109"/>
          </a:xfrm>
          <a:prstGeom prst="rect">
            <a:avLst/>
          </a:prstGeom>
        </p:spPr>
      </p:pic>
      <p:sp>
        <p:nvSpPr>
          <p:cNvPr id="10" name="TextBox 9">
            <a:extLst>
              <a:ext uri="{FF2B5EF4-FFF2-40B4-BE49-F238E27FC236}">
                <a16:creationId xmlns:a16="http://schemas.microsoft.com/office/drawing/2014/main" id="{35705320-2BA9-4539-8E2A-C04407537139}"/>
              </a:ext>
            </a:extLst>
          </p:cNvPr>
          <p:cNvSpPr txBox="1"/>
          <p:nvPr/>
        </p:nvSpPr>
        <p:spPr>
          <a:xfrm>
            <a:off x="4333798" y="5951578"/>
            <a:ext cx="366395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Adapter Pattern UML Diagram</a:t>
            </a:r>
          </a:p>
        </p:txBody>
      </p:sp>
    </p:spTree>
    <p:extLst>
      <p:ext uri="{BB962C8B-B14F-4D97-AF65-F5344CB8AC3E}">
        <p14:creationId xmlns:p14="http://schemas.microsoft.com/office/powerpoint/2010/main" val="27561093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Bridge Design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46</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9" name="TextBox 8">
            <a:extLst>
              <a:ext uri="{FF2B5EF4-FFF2-40B4-BE49-F238E27FC236}">
                <a16:creationId xmlns:a16="http://schemas.microsoft.com/office/drawing/2014/main" id="{A961DB62-400A-4B2A-8768-6774F92EB71D}"/>
              </a:ext>
            </a:extLst>
          </p:cNvPr>
          <p:cNvSpPr txBox="1"/>
          <p:nvPr/>
        </p:nvSpPr>
        <p:spPr>
          <a:xfrm>
            <a:off x="617310" y="907126"/>
            <a:ext cx="11151484"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Bridge Pattern separates abstraction from implementation so they can vary independently. It's like a bridge connecting two different hierarchies.</a:t>
            </a:r>
          </a:p>
        </p:txBody>
      </p:sp>
      <p:sp>
        <p:nvSpPr>
          <p:cNvPr id="11" name="TextBox 10">
            <a:extLst>
              <a:ext uri="{FF2B5EF4-FFF2-40B4-BE49-F238E27FC236}">
                <a16:creationId xmlns:a16="http://schemas.microsoft.com/office/drawing/2014/main" id="{4C90833B-1246-4E8D-9309-DE524814D132}"/>
              </a:ext>
            </a:extLst>
          </p:cNvPr>
          <p:cNvSpPr txBox="1"/>
          <p:nvPr/>
        </p:nvSpPr>
        <p:spPr>
          <a:xfrm>
            <a:off x="640465" y="1576144"/>
            <a:ext cx="10572017"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Bridge Pattern separates WHAT you want to do from HOW you do it, so both can change independently without affecting each other.</a:t>
            </a:r>
          </a:p>
        </p:txBody>
      </p:sp>
      <p:sp>
        <p:nvSpPr>
          <p:cNvPr id="13" name="TextBox 12">
            <a:extLst>
              <a:ext uri="{FF2B5EF4-FFF2-40B4-BE49-F238E27FC236}">
                <a16:creationId xmlns:a16="http://schemas.microsoft.com/office/drawing/2014/main" id="{8B73EDEB-0054-4B26-83DD-EEEFAD1A6191}"/>
              </a:ext>
            </a:extLst>
          </p:cNvPr>
          <p:cNvSpPr txBox="1"/>
          <p:nvPr/>
        </p:nvSpPr>
        <p:spPr>
          <a:xfrm>
            <a:off x="641453" y="2302428"/>
            <a:ext cx="10571029" cy="1754326"/>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Benefits: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Separates abstraction from implementation.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Allows both to change independently.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Avoids class explosion from inheritance.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runtime selection of implementation.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Improves flexibility and maintainability.</a:t>
            </a:r>
          </a:p>
        </p:txBody>
      </p:sp>
      <p:sp>
        <p:nvSpPr>
          <p:cNvPr id="12" name="Rectangle 1">
            <a:extLst>
              <a:ext uri="{FF2B5EF4-FFF2-40B4-BE49-F238E27FC236}">
                <a16:creationId xmlns:a16="http://schemas.microsoft.com/office/drawing/2014/main" id="{F8F001DC-FA0B-4AC1-9C57-01C767152E04}"/>
              </a:ext>
            </a:extLst>
          </p:cNvPr>
          <p:cNvSpPr>
            <a:spLocks noChangeArrowheads="1"/>
          </p:cNvSpPr>
          <p:nvPr/>
        </p:nvSpPr>
        <p:spPr bwMode="auto">
          <a:xfrm>
            <a:off x="622852" y="4173861"/>
            <a:ext cx="815008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Usage: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abstraction and implementation need to change independently.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multiple dimensions vary (e.g., Shape × Color, Payment × Gateway).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platform-independent features are required.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inheritance causes too many subclasses.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implementation must be selected or changed at runtime.</a:t>
            </a:r>
          </a:p>
        </p:txBody>
      </p:sp>
    </p:spTree>
    <p:extLst>
      <p:ext uri="{BB962C8B-B14F-4D97-AF65-F5344CB8AC3E}">
        <p14:creationId xmlns:p14="http://schemas.microsoft.com/office/powerpoint/2010/main" val="5028511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Bridge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47</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pic>
        <p:nvPicPr>
          <p:cNvPr id="6" name="Picture 5">
            <a:extLst>
              <a:ext uri="{FF2B5EF4-FFF2-40B4-BE49-F238E27FC236}">
                <a16:creationId xmlns:a16="http://schemas.microsoft.com/office/drawing/2014/main" id="{E5534B0A-AB2F-4F62-9EBE-34FA6017F617}"/>
              </a:ext>
            </a:extLst>
          </p:cNvPr>
          <p:cNvPicPr>
            <a:picLocks noChangeAspect="1"/>
          </p:cNvPicPr>
          <p:nvPr/>
        </p:nvPicPr>
        <p:blipFill>
          <a:blip r:embed="rId3"/>
          <a:stretch>
            <a:fillRect/>
          </a:stretch>
        </p:blipFill>
        <p:spPr>
          <a:xfrm>
            <a:off x="2625332" y="945414"/>
            <a:ext cx="7275126" cy="4967172"/>
          </a:xfrm>
          <a:prstGeom prst="rect">
            <a:avLst/>
          </a:prstGeom>
        </p:spPr>
      </p:pic>
      <p:sp>
        <p:nvSpPr>
          <p:cNvPr id="9" name="TextBox 8">
            <a:extLst>
              <a:ext uri="{FF2B5EF4-FFF2-40B4-BE49-F238E27FC236}">
                <a16:creationId xmlns:a16="http://schemas.microsoft.com/office/drawing/2014/main" id="{42185DAF-8A82-4FD4-8B8F-1C1EACAD9F58}"/>
              </a:ext>
            </a:extLst>
          </p:cNvPr>
          <p:cNvSpPr txBox="1"/>
          <p:nvPr/>
        </p:nvSpPr>
        <p:spPr>
          <a:xfrm>
            <a:off x="4333798" y="5951578"/>
            <a:ext cx="366395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Bridge Pattern UML Diagram</a:t>
            </a:r>
          </a:p>
        </p:txBody>
      </p:sp>
    </p:spTree>
    <p:extLst>
      <p:ext uri="{BB962C8B-B14F-4D97-AF65-F5344CB8AC3E}">
        <p14:creationId xmlns:p14="http://schemas.microsoft.com/office/powerpoint/2010/main" val="35173600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Composite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48</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2" name="Rectangle 1">
            <a:extLst>
              <a:ext uri="{FF2B5EF4-FFF2-40B4-BE49-F238E27FC236}">
                <a16:creationId xmlns:a16="http://schemas.microsoft.com/office/drawing/2014/main" id="{AB9719A4-74E4-4C35-A206-44249E088534}"/>
              </a:ext>
            </a:extLst>
          </p:cNvPr>
          <p:cNvSpPr>
            <a:spLocks noChangeArrowheads="1"/>
          </p:cNvSpPr>
          <p:nvPr/>
        </p:nvSpPr>
        <p:spPr bwMode="auto">
          <a:xfrm>
            <a:off x="516835" y="899548"/>
            <a:ext cx="1109206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The Composite Pattern is a structural design pattern that allows you to compose objects into tree structures to represent part-whole hierarchies. It lets clients treat individual objects and compositions of objects uniformly.</a:t>
            </a:r>
          </a:p>
        </p:txBody>
      </p:sp>
      <p:sp>
        <p:nvSpPr>
          <p:cNvPr id="9" name="Rectangle 2">
            <a:extLst>
              <a:ext uri="{FF2B5EF4-FFF2-40B4-BE49-F238E27FC236}">
                <a16:creationId xmlns:a16="http://schemas.microsoft.com/office/drawing/2014/main" id="{B49A0FD8-EF39-4AC5-B30C-824FD83DACBA}"/>
              </a:ext>
            </a:extLst>
          </p:cNvPr>
          <p:cNvSpPr>
            <a:spLocks noChangeArrowheads="1"/>
          </p:cNvSpPr>
          <p:nvPr/>
        </p:nvSpPr>
        <p:spPr bwMode="auto">
          <a:xfrm>
            <a:off x="516835" y="1640534"/>
            <a:ext cx="913074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latin typeface="Times New Roman" panose="02020603050405020304" pitchFamily="18" charset="0"/>
                <a:cs typeface="Times New Roman" panose="02020603050405020304" pitchFamily="18" charset="0"/>
              </a:rPr>
              <a:t>Benefits:</a:t>
            </a: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b="0" i="0" dirty="0">
                <a:solidFill>
                  <a:srgbClr val="141413"/>
                </a:solidFill>
                <a:effectLst/>
                <a:latin typeface="Times New Roman" panose="02020603050405020304" pitchFamily="18" charset="0"/>
                <a:cs typeface="Times New Roman" panose="02020603050405020304" pitchFamily="18" charset="0"/>
              </a:rPr>
              <a:t>Simplifies client code by treating single and composite objects the same</a:t>
            </a:r>
          </a:p>
          <a:p>
            <a:pPr marL="285750" indent="-285750" algn="l">
              <a:buFont typeface="Arial" panose="020B0604020202020204" pitchFamily="34" charset="0"/>
              <a:buChar char="•"/>
            </a:pPr>
            <a:r>
              <a:rPr lang="en-US" b="0" i="0" dirty="0">
                <a:solidFill>
                  <a:srgbClr val="141413"/>
                </a:solidFill>
                <a:effectLst/>
                <a:latin typeface="Times New Roman" panose="02020603050405020304" pitchFamily="18" charset="0"/>
                <a:cs typeface="Times New Roman" panose="02020603050405020304" pitchFamily="18" charset="0"/>
              </a:rPr>
              <a:t>Easy to add new components without changing existing code</a:t>
            </a:r>
          </a:p>
          <a:p>
            <a:pPr marL="285750" indent="-285750" algn="l">
              <a:buFont typeface="Arial" panose="020B0604020202020204" pitchFamily="34" charset="0"/>
              <a:buChar char="•"/>
            </a:pPr>
            <a:r>
              <a:rPr lang="en-US" b="0" i="0" dirty="0">
                <a:solidFill>
                  <a:srgbClr val="141413"/>
                </a:solidFill>
                <a:effectLst/>
                <a:latin typeface="Times New Roman" panose="02020603050405020304" pitchFamily="18" charset="0"/>
                <a:cs typeface="Times New Roman" panose="02020603050405020304" pitchFamily="18" charset="0"/>
              </a:rPr>
              <a:t>Naturally represents hierarchies and tree-like structures</a:t>
            </a:r>
          </a:p>
          <a:p>
            <a:pPr marL="285750" indent="-285750" algn="l">
              <a:buFont typeface="Arial" panose="020B0604020202020204" pitchFamily="34" charset="0"/>
              <a:buChar char="•"/>
            </a:pPr>
            <a:r>
              <a:rPr lang="en-US" b="0" i="0" dirty="0">
                <a:solidFill>
                  <a:srgbClr val="141413"/>
                </a:solidFill>
                <a:effectLst/>
                <a:latin typeface="Times New Roman" panose="02020603050405020304" pitchFamily="18" charset="0"/>
                <a:cs typeface="Times New Roman" panose="02020603050405020304" pitchFamily="18" charset="0"/>
              </a:rPr>
              <a:t>Flexible structure that combines simple and composite objects</a:t>
            </a:r>
          </a:p>
          <a:p>
            <a:pPr marL="285750" indent="-285750" algn="l">
              <a:buFont typeface="Arial" panose="020B0604020202020204" pitchFamily="34" charset="0"/>
              <a:buChar char="•"/>
            </a:pPr>
            <a:r>
              <a:rPr lang="en-US" b="0" i="0" dirty="0">
                <a:solidFill>
                  <a:srgbClr val="141413"/>
                </a:solidFill>
                <a:effectLst/>
                <a:latin typeface="Times New Roman" panose="02020603050405020304" pitchFamily="18" charset="0"/>
                <a:cs typeface="Times New Roman" panose="02020603050405020304" pitchFamily="18" charset="0"/>
              </a:rPr>
              <a:t>Each component handles its own operations with single responsibility</a:t>
            </a:r>
          </a:p>
          <a:p>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0" name="Rectangle 3">
            <a:extLst>
              <a:ext uri="{FF2B5EF4-FFF2-40B4-BE49-F238E27FC236}">
                <a16:creationId xmlns:a16="http://schemas.microsoft.com/office/drawing/2014/main" id="{6B6E430F-8DF4-4067-84F6-DDEFAD504629}"/>
              </a:ext>
            </a:extLst>
          </p:cNvPr>
          <p:cNvSpPr>
            <a:spLocks noChangeArrowheads="1"/>
          </p:cNvSpPr>
          <p:nvPr/>
        </p:nvSpPr>
        <p:spPr bwMode="auto">
          <a:xfrm>
            <a:off x="516835" y="3534355"/>
            <a:ext cx="921026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lang="en-US" altLang="en-US" b="1" dirty="0">
                <a:latin typeface="Times New Roman" panose="02020603050405020304" pitchFamily="18" charset="0"/>
                <a:cs typeface="Times New Roman" panose="02020603050405020304" pitchFamily="18" charset="0"/>
              </a:rPr>
              <a:t>Usages:</a:t>
            </a: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 system: files &amp; folders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Organization hierarchy: CEO → Managers → Employees → Teams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UI components: windows → panels → buttons/textboxes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Menu systems: main menu → submenus → menu items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Graphics apps: shapes &amp; groups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Document structure: documents → sections → paragraphs</a:t>
            </a:r>
          </a:p>
        </p:txBody>
      </p:sp>
    </p:spTree>
    <p:extLst>
      <p:ext uri="{BB962C8B-B14F-4D97-AF65-F5344CB8AC3E}">
        <p14:creationId xmlns:p14="http://schemas.microsoft.com/office/powerpoint/2010/main" val="31010897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2AAFE5-80FA-4B86-9E3E-70A88E6274F6}"/>
              </a:ext>
            </a:extLst>
          </p:cNvPr>
          <p:cNvSpPr/>
          <p:nvPr/>
        </p:nvSpPr>
        <p:spPr>
          <a:xfrm>
            <a:off x="0" y="-21392"/>
            <a:ext cx="12192000" cy="689113"/>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t="100000" r="100000"/>
                </a:path>
                <a:tileRect l="-100000" b="-100000"/>
              </a:gradFill>
            </a:endParaRPr>
          </a:p>
        </p:txBody>
      </p:sp>
      <p:sp>
        <p:nvSpPr>
          <p:cNvPr id="4" name="TextBox 3">
            <a:extLst>
              <a:ext uri="{FF2B5EF4-FFF2-40B4-BE49-F238E27FC236}">
                <a16:creationId xmlns:a16="http://schemas.microsoft.com/office/drawing/2014/main" id="{09DCE25E-D189-41B4-8B5D-09C02B78E434}"/>
              </a:ext>
            </a:extLst>
          </p:cNvPr>
          <p:cNvSpPr txBox="1"/>
          <p:nvPr/>
        </p:nvSpPr>
        <p:spPr>
          <a:xfrm>
            <a:off x="622852" y="21390"/>
            <a:ext cx="6113614" cy="646331"/>
          </a:xfrm>
          <a:prstGeom prst="rect">
            <a:avLst/>
          </a:prstGeom>
          <a:noFill/>
        </p:spPr>
        <p:txBody>
          <a:bodyPr wrap="square" rtlCol="0">
            <a:spAutoFit/>
          </a:bodyPr>
          <a:lstStyle/>
          <a:p>
            <a:r>
              <a:rPr lang="en-US" sz="3600" b="1" dirty="0">
                <a:latin typeface="Sans"/>
              </a:rPr>
              <a:t>Composite Pattern  </a:t>
            </a:r>
            <a:endParaRPr lang="en-US" b="1" dirty="0">
              <a:latin typeface="Sans"/>
            </a:endParaRPr>
          </a:p>
        </p:txBody>
      </p:sp>
      <p:pic>
        <p:nvPicPr>
          <p:cNvPr id="1026" name="Picture 2">
            <a:extLst>
              <a:ext uri="{FF2B5EF4-FFF2-40B4-BE49-F238E27FC236}">
                <a16:creationId xmlns:a16="http://schemas.microsoft.com/office/drawing/2014/main" id="{00EC8729-4692-4F05-8896-A8DA7015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278" y="210435"/>
            <a:ext cx="1190625" cy="34017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91F3FB0-E5B2-461B-8905-B306365E7CED}"/>
              </a:ext>
            </a:extLst>
          </p:cNvPr>
          <p:cNvSpPr>
            <a:spLocks noGrp="1"/>
          </p:cNvSpPr>
          <p:nvPr>
            <p:ph type="dt" sz="half" idx="10"/>
          </p:nvPr>
        </p:nvSpPr>
        <p:spPr/>
        <p:txBody>
          <a:bodyPr/>
          <a:lstStyle/>
          <a:p>
            <a:fld id="{26E5D79A-CD0C-4851-A550-CA2E78FA6DE0}" type="datetime1">
              <a:rPr lang="en-US" smtClean="0"/>
              <a:t>1/12/2026</a:t>
            </a:fld>
            <a:endParaRPr lang="en-US" dirty="0"/>
          </a:p>
        </p:txBody>
      </p:sp>
      <p:sp>
        <p:nvSpPr>
          <p:cNvPr id="7" name="Slide Number Placeholder 6">
            <a:extLst>
              <a:ext uri="{FF2B5EF4-FFF2-40B4-BE49-F238E27FC236}">
                <a16:creationId xmlns:a16="http://schemas.microsoft.com/office/drawing/2014/main" id="{1973AECA-E645-44D4-B4C2-590B467835FC}"/>
              </a:ext>
            </a:extLst>
          </p:cNvPr>
          <p:cNvSpPr>
            <a:spLocks noGrp="1"/>
          </p:cNvSpPr>
          <p:nvPr>
            <p:ph type="sldNum" sz="quarter" idx="12"/>
          </p:nvPr>
        </p:nvSpPr>
        <p:spPr/>
        <p:txBody>
          <a:bodyPr/>
          <a:lstStyle/>
          <a:p>
            <a:fld id="{4FAB73BC-B049-4115-A692-8D63A059BFB8}" type="slidenum">
              <a:rPr lang="en-US" smtClean="0"/>
              <a:pPr/>
              <a:t>49</a:t>
            </a:fld>
            <a:endParaRPr lang="en-US" dirty="0"/>
          </a:p>
        </p:txBody>
      </p:sp>
      <p:sp>
        <p:nvSpPr>
          <p:cNvPr id="8" name="Footer Placeholder 5">
            <a:extLst>
              <a:ext uri="{FF2B5EF4-FFF2-40B4-BE49-F238E27FC236}">
                <a16:creationId xmlns:a16="http://schemas.microsoft.com/office/drawing/2014/main" id="{74C9FE74-0FA2-4261-B74A-282D86A90547}"/>
              </a:ext>
            </a:extLst>
          </p:cNvPr>
          <p:cNvSpPr>
            <a:spLocks noGrp="1"/>
          </p:cNvSpPr>
          <p:nvPr>
            <p:ph type="ftr" sz="quarter" idx="11"/>
          </p:nvPr>
        </p:nvSpPr>
        <p:spPr>
          <a:xfrm>
            <a:off x="3686185" y="6459785"/>
            <a:ext cx="4822804" cy="365125"/>
          </a:xfrm>
        </p:spPr>
        <p:txBody>
          <a:bodyPr/>
          <a:lstStyle/>
          <a:p>
            <a:r>
              <a:rPr lang="en-US" dirty="0"/>
              <a:t>Software design patterns</a:t>
            </a:r>
          </a:p>
        </p:txBody>
      </p:sp>
      <p:sp>
        <p:nvSpPr>
          <p:cNvPr id="10" name="TextBox 9">
            <a:extLst>
              <a:ext uri="{FF2B5EF4-FFF2-40B4-BE49-F238E27FC236}">
                <a16:creationId xmlns:a16="http://schemas.microsoft.com/office/drawing/2014/main" id="{68C1E246-C5D3-46C3-A7E5-08447747BF1F}"/>
              </a:ext>
            </a:extLst>
          </p:cNvPr>
          <p:cNvSpPr txBox="1"/>
          <p:nvPr/>
        </p:nvSpPr>
        <p:spPr>
          <a:xfrm>
            <a:off x="4333798" y="5951578"/>
            <a:ext cx="366395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Composite Pattern UML Diagram</a:t>
            </a:r>
          </a:p>
        </p:txBody>
      </p:sp>
      <p:pic>
        <p:nvPicPr>
          <p:cNvPr id="6" name="Picture 5">
            <a:extLst>
              <a:ext uri="{FF2B5EF4-FFF2-40B4-BE49-F238E27FC236}">
                <a16:creationId xmlns:a16="http://schemas.microsoft.com/office/drawing/2014/main" id="{D1B31FB8-FD72-4F4B-B1F3-1797428577B2}"/>
              </a:ext>
            </a:extLst>
          </p:cNvPr>
          <p:cNvPicPr>
            <a:picLocks noChangeAspect="1"/>
          </p:cNvPicPr>
          <p:nvPr/>
        </p:nvPicPr>
        <p:blipFill>
          <a:blip r:embed="rId3"/>
          <a:stretch>
            <a:fillRect/>
          </a:stretch>
        </p:blipFill>
        <p:spPr>
          <a:xfrm>
            <a:off x="2915478" y="764463"/>
            <a:ext cx="5982114" cy="5017462"/>
          </a:xfrm>
          <a:prstGeom prst="rect">
            <a:avLst/>
          </a:prstGeom>
        </p:spPr>
      </p:pic>
    </p:spTree>
    <p:extLst>
      <p:ext uri="{BB962C8B-B14F-4D97-AF65-F5344CB8AC3E}">
        <p14:creationId xmlns:p14="http://schemas.microsoft.com/office/powerpoint/2010/main" val="29199899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87F73EE-C830-4C7F-9D0C-C16A680FA7E5}"/>
              </a:ext>
            </a:extLst>
          </p:cNvPr>
          <p:cNvSpPr>
            <a:spLocks noGrp="1"/>
          </p:cNvSpPr>
          <p:nvPr>
            <p:ph type="ctrTitle"/>
          </p:nvPr>
        </p:nvSpPr>
        <p:spPr>
          <a:xfrm>
            <a:off x="1097280" y="758952"/>
            <a:ext cx="10058400" cy="3566160"/>
          </a:xfrm>
        </p:spPr>
        <p:txBody>
          <a:bodyPr/>
          <a:lstStyle/>
          <a:p>
            <a:r>
              <a:rPr lang="en-US" dirty="0">
                <a:latin typeface="Sans"/>
              </a:rPr>
              <a:t>Thank you</a:t>
            </a:r>
          </a:p>
        </p:txBody>
      </p:sp>
    </p:spTree>
    <p:extLst>
      <p:ext uri="{BB962C8B-B14F-4D97-AF65-F5344CB8AC3E}">
        <p14:creationId xmlns:p14="http://schemas.microsoft.com/office/powerpoint/2010/main" val="1135786754"/>
      </p:ext>
    </p:extLst>
  </p:cSld>
  <p:clrMapOvr>
    <a:masterClrMapping/>
  </p:clrMapOvr>
</p:sld>
</file>

<file path=ppt/theme/theme1.xml><?xml version="1.0" encoding="utf-8"?>
<a:theme xmlns:a="http://schemas.openxmlformats.org/drawingml/2006/main" name="Retrospect">
  <a:themeElements>
    <a:clrScheme name="Custom 1">
      <a:dk1>
        <a:sysClr val="windowText" lastClr="000000"/>
      </a:dk1>
      <a:lt1>
        <a:sysClr val="window" lastClr="FFFFFF"/>
      </a:lt1>
      <a:dk2>
        <a:srgbClr val="344068"/>
      </a:dk2>
      <a:lt2>
        <a:srgbClr val="D9E0E6"/>
      </a:lt2>
      <a:accent1>
        <a:srgbClr val="1CADE4"/>
      </a:accent1>
      <a:accent2>
        <a:srgbClr val="002060"/>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3227</TotalTime>
  <Words>3743</Words>
  <Application>Microsoft Office PowerPoint</Application>
  <PresentationFormat>Widescreen</PresentationFormat>
  <Paragraphs>606</Paragraphs>
  <Slides>50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Calibri Light</vt:lpstr>
      <vt:lpstr>Sans</vt:lpstr>
      <vt:lpstr>Times New Roman</vt:lpstr>
      <vt:lpstr>Retrospect</vt:lpstr>
      <vt:lpstr>Software Design Pattern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Transaction Service</dc:title>
  <dc:creator>Md. Mamun Hossain</dc:creator>
  <cp:lastModifiedBy>Md. Mamun Hossain</cp:lastModifiedBy>
  <cp:revision>96</cp:revision>
  <dcterms:created xsi:type="dcterms:W3CDTF">2025-09-15T11:04:52Z</dcterms:created>
  <dcterms:modified xsi:type="dcterms:W3CDTF">2026-01-12T04:08:36Z</dcterms:modified>
</cp:coreProperties>
</file>